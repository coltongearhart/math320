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411" r:id="rId2"/>
    <p:sldId id="412" r:id="rId3"/>
    <p:sldId id="413" r:id="rId4"/>
    <p:sldId id="414" r:id="rId5"/>
    <p:sldId id="41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808"/>
    <p:restoredTop sz="93625"/>
  </p:normalViewPr>
  <p:slideViewPr>
    <p:cSldViewPr snapToGrid="0">
      <p:cViewPr varScale="1">
        <p:scale>
          <a:sx n="86" d="100"/>
          <a:sy n="8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A486E-77D8-8E45-B782-DCB14EA2A774}" type="datetimeFigureOut">
              <a:rPr lang="en-US" smtClean="0"/>
              <a:t>9/21/23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332E5-5CC8-9C4B-8D43-75CC7B0B4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79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AF432-CA97-29F4-DC8C-40021CD19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5F039-71B3-9040-871B-2DB8940A9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F41F7-0B44-1046-371E-8213178F8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9/21/23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A9066-5AC5-0500-CF46-B733D87AD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1C19-EF47-BD12-4412-896201EFF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78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932F0-17E4-A7FD-8081-2A6797418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9C282-C52B-A1A4-E4BC-CFC2F9F00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246B3-EBBB-8919-0A89-CD857C414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9/21/23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0E43E-11F9-F9E2-62B2-D2247E631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BE289-1C38-6976-4F51-168887AA9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82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668F0-5117-E5F4-498B-3BC2B9E64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4D687-23AB-761D-10C4-9249CCFB8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7FD43-1D31-C1CB-ECF1-0CF237166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9/21/23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3E1E2-02A1-B1A8-19C7-E2DA246A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FD2D7-2651-AFCE-E705-6CC1F3396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99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CE013-4C4F-9612-F731-4825D3A89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0418C-43B8-F685-F967-D7AC42E9BE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14C03-C619-3970-5716-A16278B64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1ED839-EA64-8AD5-15AA-69FBD2BA2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9/21/23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FD805-85BC-062B-39E9-E07B70CA6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ABD6A-ACA1-0705-2066-CC2D82015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806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1716A-17B3-6F85-26BF-47A859B3F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68BE5-F76B-EE2A-02BE-8266E51E6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F732A9-0020-0698-B373-100A9A71B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20572C-F535-CE34-B0FF-8B50B11D96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CC7033-3373-A905-02BA-615CBE899F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114ABC-2BD1-5D80-3FB4-314EBAE2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9/21/23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91479A-F497-CF40-72B7-456A4EB4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365D80-84A5-F7EF-D758-A07F22509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594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8C9ED-DDB3-6740-E885-95929519E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15F18-289D-6A87-120A-FED383DD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9/21/23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75A11A-DC6B-A4B1-F9EC-7ABFFABCC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35C54D-086D-8F1C-68E5-E7A3C6553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07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9A61E3-A173-CA03-272F-BD70EDA42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9/21/23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8CE963-9B32-112B-DF21-3883B6DED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7F783-0CA4-435E-6661-904592069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99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8258B-2CEF-159C-00F5-D62D45270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83C09-00DF-BA04-9D4B-4C754D78C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662F0E-2583-10C0-7F18-56E218345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4393A-0258-5D8F-FC63-D9CA95530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9/21/23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4638F-D182-FC05-0C92-E7F3D96CF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D9B03-0D3A-8165-8162-88F5C3BEE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04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4FCFC-8CEF-ACF4-922F-48C4A6838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492A8B-F459-3BDA-1763-122E856875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BC5B04-5365-81BE-12AA-FE18F5FF3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EDEBF-36DC-D0F5-AC1C-A71056B1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9/21/23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DE4FC8-059E-72AC-41C4-DA1D32808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BABFF-03B1-FD42-C6E8-90A1636FF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8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6B506-952A-FFF5-03EA-138D53B71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70C968-8F0F-4CC6-68AA-9FF794ACB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6C730-1B8A-67A4-4049-0A98B44B9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9/21/23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A2178-F38B-EE80-521A-BAAAD2CAF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49FA3-3E6F-5A57-E62F-BF2242B77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546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5CDE77-4494-0239-5824-C57AF23F9A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52E670-EF7E-E71C-E352-C2DC028DA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DCF35-80B2-47B5-5EE7-0AD5309F7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AE08B-FC62-A14A-A283-DE322E7D125E}" type="datetimeFigureOut">
              <a:rPr lang="en-US" smtClean="0"/>
              <a:t>9/21/23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A728D-D754-751D-04E2-CE87003A8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1EA90-5423-DA02-9E35-E9D6BBC2A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0404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97456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2B7133-CBC8-8C79-54AB-2B6D68D4F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27B57-C403-2F05-1E03-EE7227E70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EF81D-EE00-AACE-CFEB-F4803AFFB4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AE08B-FC62-A14A-A283-DE322E7D125E}" type="datetimeFigureOut">
              <a:rPr lang="en-US" smtClean="0"/>
              <a:t>9/21/23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F08ED-917A-87F0-2775-A929F781CB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7DB4D-F222-1DD2-74AC-7AA67ECAC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ED83B-7EF0-3440-8D33-0DA7C055A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903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4C8E09-7EE8-DE77-A2F6-041DA0F59225}"/>
                  </a:ext>
                </a:extLst>
              </p:cNvPr>
              <p:cNvSpPr txBox="1"/>
              <p:nvPr/>
            </p:nvSpPr>
            <p:spPr>
              <a:xfrm>
                <a:off x="900650" y="889843"/>
                <a:ext cx="7280824" cy="4801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arenR"/>
                </a:pPr>
                <a:r>
                  <a:rPr lang="en-US" dirty="0"/>
                  <a:t>Suppose there are 10 teams in a soccer league.</a:t>
                </a:r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en-US" dirty="0"/>
                  <a:t>How many total ways can all 10 teams place at the end of the season?</a:t>
                </a:r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en-US" dirty="0"/>
                  <a:t>How many ways can the top 4 teams finish?</a:t>
                </a:r>
              </a:p>
              <a:p>
                <a:pPr marL="800100" lvl="1" indent="-342900">
                  <a:buFont typeface="+mj-lt"/>
                  <a:buAutoNum type="alphaLcParenR"/>
                </a:pPr>
                <a:r>
                  <a:rPr lang="en-US" dirty="0"/>
                  <a:t>To qualify for the next round of the tournament, a team needs to finish in the top 6. How many ways can the qualifiers be made?</a:t>
                </a:r>
              </a:p>
              <a:p>
                <a:pPr lvl="1"/>
                <a:endParaRPr lang="en-US" dirty="0"/>
              </a:p>
              <a:p>
                <a:pPr marL="342900" indent="-342900">
                  <a:buFont typeface="+mj-lt"/>
                  <a:buAutoNum type="arabicParenR"/>
                </a:pPr>
                <a:r>
                  <a:rPr lang="en-US" dirty="0"/>
                  <a:t>60% of students in a class are sophomores and 40% are juniors. Sophomores are 3 times as likely to be math ed majors as juniors.</a:t>
                </a:r>
              </a:p>
              <a:p>
                <a:r>
                  <a:rPr lang="en-US" dirty="0"/>
                  <a:t>       Find P(Soph | Math Ed)</a:t>
                </a:r>
              </a:p>
              <a:p>
                <a:endParaRPr lang="en-US" dirty="0"/>
              </a:p>
              <a:p>
                <a:r>
                  <a:rPr lang="en-US" dirty="0"/>
                  <a:t>3) Suppose you roll an 8-sided die. Let E = even # and B = {1, 2, 3}.</a:t>
                </a:r>
              </a:p>
              <a:p>
                <a:r>
                  <a:rPr lang="en-US" dirty="0"/>
                  <a:t>     Check if E is independent of B.</a:t>
                </a:r>
              </a:p>
              <a:p>
                <a:endParaRPr lang="en-US" dirty="0"/>
              </a:p>
              <a:p>
                <a:r>
                  <a:rPr lang="en-US" dirty="0"/>
                  <a:t>4) Draw Venn Diagrams to verify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∪~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∪(~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∩~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800100" lvl="1" indent="-342900">
                  <a:buFont typeface="+mj-lt"/>
                  <a:buAutoNum type="alphaLcParenR"/>
                </a:pPr>
                <a:endParaRPr lang="en-US" dirty="0"/>
              </a:p>
              <a:p>
                <a:pPr marL="342900" indent="-342900">
                  <a:buAutoNum type="arabicParenR"/>
                </a:pPr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4C8E09-7EE8-DE77-A2F6-041DA0F59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50" y="889843"/>
                <a:ext cx="7280824" cy="4801314"/>
              </a:xfrm>
              <a:prstGeom prst="rect">
                <a:avLst/>
              </a:prstGeom>
              <a:blipFill>
                <a:blip r:embed="rId2"/>
                <a:stretch>
                  <a:fillRect l="-871" t="-5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1465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6DEA3E-329B-F53A-6A77-519EBEFB89AC}"/>
              </a:ext>
            </a:extLst>
          </p:cNvPr>
          <p:cNvSpPr txBox="1"/>
          <p:nvPr/>
        </p:nvSpPr>
        <p:spPr>
          <a:xfrm>
            <a:off x="471531" y="553104"/>
            <a:ext cx="873001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5) In our class, 20% are math majors, 33% are actuary majors, and 47% are econ majors.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85% of math majors will pass the exam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73% of actuary majors will pass the exam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64% of econ majors will pass the exam</a:t>
            </a:r>
          </a:p>
          <a:p>
            <a:endParaRPr lang="en-US" dirty="0"/>
          </a:p>
          <a:p>
            <a:r>
              <a:rPr lang="en-US" dirty="0"/>
              <a:t>    a) What is the probability a student will not pass the exam?</a:t>
            </a:r>
          </a:p>
          <a:p>
            <a:r>
              <a:rPr lang="en-US" dirty="0"/>
              <a:t>    b) What is the probability a student is an actuary if we know they passed the exam?</a:t>
            </a:r>
          </a:p>
          <a:p>
            <a:r>
              <a:rPr lang="en-US" dirty="0"/>
              <a:t>    c) What is the probability a student is a math or econ major given they passed the exam?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07D4AE-B883-FF87-E575-E0A659F99DC8}"/>
              </a:ext>
            </a:extLst>
          </p:cNvPr>
          <p:cNvSpPr txBox="1"/>
          <p:nvPr/>
        </p:nvSpPr>
        <p:spPr>
          <a:xfrm>
            <a:off x="5277853" y="486075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0778FB-0D2F-D481-65C4-C3B775476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184" y="3360821"/>
            <a:ext cx="4597400" cy="38989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FFB2D26-362B-FA08-77D4-DD20C0F77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016" y="3554305"/>
            <a:ext cx="47498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18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268E35-7CDC-6A4E-4E99-2B9891958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231" y="3429000"/>
            <a:ext cx="4686300" cy="2374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077C1C-42AC-67A4-9020-CF6A37F4F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231" y="830343"/>
            <a:ext cx="4749800" cy="1905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388ED3-1910-7899-3B3C-859A2D885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469" y="830343"/>
            <a:ext cx="4686300" cy="1168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8D62FB-8657-4A8E-6D80-93F44767BE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9469" y="3429000"/>
            <a:ext cx="4686300" cy="18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18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212D51EA-9DF7-66A8-D15B-5C4CE47146A0}"/>
              </a:ext>
            </a:extLst>
          </p:cNvPr>
          <p:cNvGrpSpPr/>
          <p:nvPr/>
        </p:nvGrpSpPr>
        <p:grpSpPr>
          <a:xfrm>
            <a:off x="693127" y="584200"/>
            <a:ext cx="4686300" cy="5009661"/>
            <a:chOff x="693127" y="584200"/>
            <a:chExt cx="4686300" cy="500966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D042280-7E39-5F3F-B956-ADE159959CED}"/>
                </a:ext>
              </a:extLst>
            </p:cNvPr>
            <p:cNvGrpSpPr/>
            <p:nvPr/>
          </p:nvGrpSpPr>
          <p:grpSpPr>
            <a:xfrm>
              <a:off x="693127" y="584200"/>
              <a:ext cx="4686300" cy="4389315"/>
              <a:chOff x="3752850" y="830385"/>
              <a:chExt cx="4686300" cy="4389315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0171E182-6AE6-C08C-87EF-C8BEDA8F32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752850" y="1638300"/>
                <a:ext cx="4686300" cy="3581400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6C4B4ED8-97AD-386D-98BA-89DBE1AC4A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52850" y="830385"/>
                <a:ext cx="4686300" cy="1117600"/>
              </a:xfrm>
              <a:prstGeom prst="rect">
                <a:avLst/>
              </a:prstGeom>
            </p:spPr>
          </p:pic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CB2FF7A-0554-6EA0-0F86-9C8D94B99B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3127" y="4920761"/>
              <a:ext cx="4686300" cy="67310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F4E3F7D6-6B5A-AD4A-F9EB-96985E71D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702441"/>
            <a:ext cx="4495800" cy="1689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82D8FA-FB7E-D4C7-8D6E-F5DBF20831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7631" y="2755900"/>
            <a:ext cx="45974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57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E5E54-B218-6ED1-4DEE-DB51E5B46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599" y="1536633"/>
            <a:ext cx="6191677" cy="4555200"/>
          </a:xfrm>
        </p:spPr>
        <p:txBody>
          <a:bodyPr/>
          <a:lstStyle/>
          <a:p>
            <a:pPr marL="152396" indent="0">
              <a:buNone/>
            </a:pPr>
            <a:r>
              <a:rPr lang="en-US" sz="2000" dirty="0"/>
              <a:t>select   </a:t>
            </a:r>
            <a:r>
              <a:rPr lang="en-US" b="1" u="sng" dirty="0"/>
              <a:t>Answers</a:t>
            </a:r>
            <a:r>
              <a:rPr lang="en-US" b="1" dirty="0"/>
              <a:t>    </a:t>
            </a:r>
            <a:r>
              <a:rPr lang="en-US" sz="1800" dirty="0"/>
              <a:t>(rounded to 3 decimals)</a:t>
            </a:r>
            <a:endParaRPr lang="en-US" dirty="0"/>
          </a:p>
          <a:p>
            <a:pPr marL="152396" indent="0">
              <a:buNone/>
            </a:pPr>
            <a:endParaRPr lang="en-US" sz="2000" b="1" u="sng" dirty="0"/>
          </a:p>
          <a:p>
            <a:pPr marL="152396" indent="0">
              <a:buNone/>
            </a:pPr>
            <a:r>
              <a:rPr lang="en-US" sz="2000" dirty="0"/>
              <a:t>2) 0.818</a:t>
            </a:r>
          </a:p>
          <a:p>
            <a:pPr marL="152396" indent="0">
              <a:buNone/>
            </a:pPr>
            <a:r>
              <a:rPr lang="en-US" sz="2000" dirty="0"/>
              <a:t>3) Not ind</a:t>
            </a:r>
          </a:p>
          <a:p>
            <a:pPr marL="152396" indent="0">
              <a:buNone/>
            </a:pPr>
            <a:r>
              <a:rPr lang="en-US" sz="2000" dirty="0"/>
              <a:t>5) a) 0.288</a:t>
            </a:r>
          </a:p>
          <a:p>
            <a:pPr marL="152396" indent="0">
              <a:buNone/>
            </a:pPr>
            <a:r>
              <a:rPr lang="en-US" sz="2000" dirty="0"/>
              <a:t>     b) 0.338</a:t>
            </a:r>
          </a:p>
          <a:p>
            <a:pPr marL="152396" indent="0">
              <a:buNone/>
            </a:pPr>
            <a:r>
              <a:rPr lang="en-US" sz="2000" dirty="0"/>
              <a:t>     c) 0.662</a:t>
            </a:r>
          </a:p>
          <a:p>
            <a:pPr marL="152396" indent="0">
              <a:buNone/>
            </a:pPr>
            <a:endParaRPr lang="en-US" sz="2000" dirty="0"/>
          </a:p>
          <a:p>
            <a:pPr marL="152396" indent="0">
              <a:buNone/>
            </a:pPr>
            <a:r>
              <a:rPr lang="en-US" sz="2000" dirty="0"/>
              <a:t>1.1-5) b) 5/6</a:t>
            </a:r>
          </a:p>
          <a:p>
            <a:pPr marL="152396" indent="0">
              <a:buNone/>
            </a:pPr>
            <a:r>
              <a:rPr lang="en-US" sz="2000" dirty="0"/>
              <a:t>1.1-6) c) 0.7</a:t>
            </a:r>
          </a:p>
          <a:p>
            <a:pPr marL="152396" indent="0">
              <a:buNone/>
            </a:pPr>
            <a:r>
              <a:rPr lang="en-US" sz="2000" dirty="0"/>
              <a:t>1.1-7) 0.63</a:t>
            </a:r>
          </a:p>
          <a:p>
            <a:pPr marL="152396" indent="0">
              <a:buNone/>
            </a:pPr>
            <a:r>
              <a:rPr lang="en-US" sz="2000" dirty="0"/>
              <a:t>1.1-8) 0.15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CAE2A2-8339-17C2-1647-871B6C9BEC7D}"/>
              </a:ext>
            </a:extLst>
          </p:cNvPr>
          <p:cNvSpPr txBox="1"/>
          <p:nvPr/>
        </p:nvSpPr>
        <p:spPr>
          <a:xfrm>
            <a:off x="2389239" y="2182760"/>
            <a:ext cx="38345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1.2-13) a) 0.005</a:t>
            </a:r>
          </a:p>
          <a:p>
            <a:r>
              <a:rPr lang="en-US" dirty="0"/>
              <a:t>1.3-4) 0.019</a:t>
            </a:r>
          </a:p>
          <a:p>
            <a:r>
              <a:rPr lang="en-US" dirty="0"/>
              <a:t>1.3-7) 0.2</a:t>
            </a:r>
          </a:p>
          <a:p>
            <a:r>
              <a:rPr lang="en-US" dirty="0"/>
              <a:t>1.3-12) all the same prob</a:t>
            </a:r>
          </a:p>
          <a:p>
            <a:r>
              <a:rPr lang="en-US" dirty="0"/>
              <a:t>1.3-14) c) 0.6</a:t>
            </a:r>
          </a:p>
          <a:p>
            <a:r>
              <a:rPr lang="en-US" dirty="0"/>
              <a:t>              d) 0.268</a:t>
            </a:r>
          </a:p>
          <a:p>
            <a:r>
              <a:rPr lang="en-US" dirty="0"/>
              <a:t>1.4-1) c) 0.86</a:t>
            </a:r>
          </a:p>
          <a:p>
            <a:r>
              <a:rPr lang="en-US" dirty="0"/>
              <a:t>1.4-2) 1) 0.72</a:t>
            </a:r>
          </a:p>
          <a:p>
            <a:endParaRPr lang="en-US" dirty="0"/>
          </a:p>
          <a:p>
            <a:r>
              <a:rPr lang="en-US" dirty="0"/>
              <a:t>1.5-5) 0.632</a:t>
            </a:r>
          </a:p>
        </p:txBody>
      </p:sp>
    </p:spTree>
    <p:extLst>
      <p:ext uri="{BB962C8B-B14F-4D97-AF65-F5344CB8AC3E}">
        <p14:creationId xmlns:p14="http://schemas.microsoft.com/office/powerpoint/2010/main" val="3880250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347</Words>
  <Application>Microsoft Macintosh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Gearhart, Colton Mr.</dc:creator>
  <cp:lastModifiedBy>Gearhart, Colton Rae</cp:lastModifiedBy>
  <cp:revision>34</cp:revision>
  <dcterms:created xsi:type="dcterms:W3CDTF">2022-11-09T01:27:32Z</dcterms:created>
  <dcterms:modified xsi:type="dcterms:W3CDTF">2023-09-21T17:03:34Z</dcterms:modified>
</cp:coreProperties>
</file>