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411" r:id="rId2"/>
    <p:sldId id="416" r:id="rId3"/>
    <p:sldId id="412" r:id="rId4"/>
    <p:sldId id="417" r:id="rId5"/>
    <p:sldId id="418" r:id="rId6"/>
    <p:sldId id="41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8"/>
    <p:restoredTop sz="93605"/>
  </p:normalViewPr>
  <p:slideViewPr>
    <p:cSldViewPr snapToGrid="0">
      <p:cViewPr>
        <p:scale>
          <a:sx n="100" d="100"/>
          <a:sy n="100" d="100"/>
        </p:scale>
        <p:origin x="184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A486E-77D8-8E45-B782-DCB14EA2A774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332E5-5CC8-9C4B-8D43-75CC7B0B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79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F432-CA97-29F4-DC8C-40021CD19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5F039-71B3-9040-871B-2DB8940A9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F41F7-0B44-1046-371E-8213178F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A9066-5AC5-0500-CF46-B733D87A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1C19-EF47-BD12-4412-896201EF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7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932F0-17E4-A7FD-8081-2A6797418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9C282-C52B-A1A4-E4BC-CFC2F9F00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46B3-EBBB-8919-0A89-CD857C414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0E43E-11F9-F9E2-62B2-D2247E63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BE289-1C38-6976-4F51-168887AA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8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68F0-5117-E5F4-498B-3BC2B9E6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4D687-23AB-761D-10C4-9249CCFB8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7FD43-1D31-C1CB-ECF1-0CF23716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3E1E2-02A1-B1A8-19C7-E2DA246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FD2D7-2651-AFCE-E705-6CC1F3396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CE013-4C4F-9612-F731-4825D3A8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0418C-43B8-F685-F967-D7AC42E9B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14C03-C619-3970-5716-A16278B64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ED839-EA64-8AD5-15AA-69FBD2BA2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FD805-85BC-062B-39E9-E07B70CA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ABD6A-ACA1-0705-2066-CC2D82015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0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716A-17B3-6F85-26BF-47A859B3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68BE5-F76B-EE2A-02BE-8266E51E6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732A9-0020-0698-B373-100A9A71B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0572C-F535-CE34-B0FF-8B50B11D9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C7033-3373-A905-02BA-615CBE899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114ABC-2BD1-5D80-3FB4-314EBAE2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91479A-F497-CF40-72B7-456A4EB4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65D80-84A5-F7EF-D758-A07F2250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9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C9ED-DDB3-6740-E885-95929519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15F18-289D-6A87-120A-FED383DD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5A11A-DC6B-A4B1-F9EC-7ABFFABC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5C54D-086D-8F1C-68E5-E7A3C655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07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A61E3-A173-CA03-272F-BD70EDA42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8CE963-9B32-112B-DF21-3883B6DE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7F783-0CA4-435E-6661-904592069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9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258B-2CEF-159C-00F5-D62D4527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83C09-00DF-BA04-9D4B-4C754D78C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62F0E-2583-10C0-7F18-56E218345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4393A-0258-5D8F-FC63-D9CA9553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4638F-D182-FC05-0C92-E7F3D96C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D9B03-0D3A-8165-8162-88F5C3BE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04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FCFC-8CEF-ACF4-922F-48C4A683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92A8B-F459-3BDA-1763-122E856875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C5B04-5365-81BE-12AA-FE18F5FF3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EDEBF-36DC-D0F5-AC1C-A71056B1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E4FC8-059E-72AC-41C4-DA1D3280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BABFF-03B1-FD42-C6E8-90A1636F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6B506-952A-FFF5-03EA-138D53B71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0C968-8F0F-4CC6-68AA-9FF794ACB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6C730-1B8A-67A4-4049-0A98B44B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A2178-F38B-EE80-521A-BAAAD2CAF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49FA3-3E6F-5A57-E62F-BF2242B7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46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CDE77-4494-0239-5824-C57AF23F9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2E670-EF7E-E71C-E352-C2DC028DA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DCF35-80B2-47B5-5EE7-0AD5309F7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A728D-D754-751D-04E2-CE87003A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1EA90-5423-DA02-9E35-E9D6BBC2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40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9745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B7133-CBC8-8C79-54AB-2B6D68D4F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27B57-C403-2F05-1E03-EE7227E70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EF81D-EE00-AACE-CFEB-F4803AFFB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AE08B-FC62-A14A-A283-DE322E7D125E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F08ED-917A-87F0-2775-A929F781C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7DB4D-F222-1DD2-74AC-7AA67ECAC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0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BC3D89-1B14-A4ED-6F44-9F1496EAD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" y="4713288"/>
            <a:ext cx="5549900" cy="1968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7F1B88-900F-26D7-F3A4-9A1F9FA3F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62351"/>
            <a:ext cx="5549900" cy="1397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D99EE2-5935-14E0-53D6-D49C8DA62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0" y="171450"/>
            <a:ext cx="5499100" cy="2362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E82DE8-FC36-9977-2235-C3EA929A8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950" y="2408238"/>
            <a:ext cx="5499100" cy="2184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E40C8B-404B-CEE2-90D4-2E9734268CF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6057"/>
          <a:stretch/>
        </p:blipFill>
        <p:spPr>
          <a:xfrm>
            <a:off x="5962650" y="171450"/>
            <a:ext cx="5549900" cy="26225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8E172E-6DA4-E3BC-B02F-CB2DE5D61F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5226052"/>
            <a:ext cx="5486400" cy="1066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4BF8A6-A697-70C4-0C0B-EC1E620629B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895" t="86789" r="54576" b="4878"/>
          <a:stretch/>
        </p:blipFill>
        <p:spPr>
          <a:xfrm>
            <a:off x="6413500" y="2533650"/>
            <a:ext cx="2082800" cy="26034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8204C6E-CEA9-5DFF-0856-66B6BC008A57}"/>
              </a:ext>
            </a:extLst>
          </p:cNvPr>
          <p:cNvSpPr/>
          <p:nvPr/>
        </p:nvSpPr>
        <p:spPr>
          <a:xfrm>
            <a:off x="8496300" y="2397125"/>
            <a:ext cx="1857764" cy="520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65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68ED63-2C31-945B-56EE-D79EAC88E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393699"/>
            <a:ext cx="5549900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BDAD88-DCD9-BDC1-804C-540B3672C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12999"/>
            <a:ext cx="5549900" cy="284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8EC402-2E06-4B2F-DB21-095B76C9F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50" y="2412999"/>
            <a:ext cx="5549900" cy="2552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FE4AD3-E070-806E-D8E2-9CB4F4633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93699"/>
            <a:ext cx="5549900" cy="2019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F2B751-4D29-2F9B-3A47-1DB528251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" y="5156199"/>
            <a:ext cx="54864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16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B54DF49C-529C-B07C-7044-212A641F8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20" y="3339783"/>
            <a:ext cx="3980180" cy="1316990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3A1218A8-688B-B4B7-F3C9-0F45828DC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5" y="403542"/>
            <a:ext cx="3751580" cy="1133475"/>
          </a:xfrm>
          <a:prstGeom prst="rect">
            <a:avLst/>
          </a:prstGeom>
        </p:spPr>
      </p:pic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57E3E15D-1CE4-7B45-DB22-7C46ED5F99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0" y="1732280"/>
            <a:ext cx="4141470" cy="1412240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F2849B86-2805-71AB-4FF9-38AF900415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20" y="4656773"/>
            <a:ext cx="4060825" cy="104965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5DCF94F-79E4-20C8-354E-6958734BCDBB}"/>
              </a:ext>
            </a:extLst>
          </p:cNvPr>
          <p:cNvGrpSpPr/>
          <p:nvPr/>
        </p:nvGrpSpPr>
        <p:grpSpPr>
          <a:xfrm>
            <a:off x="4742688" y="267293"/>
            <a:ext cx="3514344" cy="1724987"/>
            <a:chOff x="4742688" y="267293"/>
            <a:chExt cx="3514344" cy="172498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DB18518-4CEB-FB7C-3FD6-3D449CAD9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42688" y="267293"/>
              <a:ext cx="3514344" cy="100061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BF4595F-AFBC-D719-B2EA-7ED6F26A5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42688" y="1081753"/>
              <a:ext cx="3197948" cy="910527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C6FBB61-2E91-B0F0-E382-86DF62B3A79E}"/>
              </a:ext>
            </a:extLst>
          </p:cNvPr>
          <p:cNvSpPr txBox="1"/>
          <p:nvPr/>
        </p:nvSpPr>
        <p:spPr>
          <a:xfrm>
            <a:off x="4742688" y="2214880"/>
            <a:ext cx="371168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3.2-16. </a:t>
            </a:r>
            <a:r>
              <a:rPr lang="en-US" sz="1400" dirty="0"/>
              <a:t>Cars arrive at a toll booth at a mean rate of 5 cars every 50 minutes. Find the following probabilities of waiting for the first customer to arrive.</a:t>
            </a:r>
          </a:p>
          <a:p>
            <a:r>
              <a:rPr lang="en-US" sz="1400" b="1" dirty="0"/>
              <a:t>(a) </a:t>
            </a:r>
            <a:r>
              <a:rPr lang="en-US" sz="1400" dirty="0"/>
              <a:t>P(T &lt; 28 min)</a:t>
            </a:r>
          </a:p>
          <a:p>
            <a:r>
              <a:rPr lang="en-US" sz="1400" b="1" dirty="0"/>
              <a:t>(b) </a:t>
            </a:r>
            <a:r>
              <a:rPr lang="en-US" sz="1400" dirty="0"/>
              <a:t>P(T &gt; 20 min)</a:t>
            </a:r>
          </a:p>
          <a:p>
            <a:r>
              <a:rPr lang="en-US" sz="1400" b="1" dirty="0"/>
              <a:t>(c) </a:t>
            </a:r>
            <a:r>
              <a:rPr lang="en-US" sz="1400" dirty="0"/>
              <a:t>P( 15 &lt; T &lt; 22 min)</a:t>
            </a:r>
          </a:p>
          <a:p>
            <a:r>
              <a:rPr lang="en-US" sz="1400" b="1" dirty="0"/>
              <a:t>(d) </a:t>
            </a:r>
            <a:r>
              <a:rPr lang="en-US" sz="1400" dirty="0"/>
              <a:t>Now suppose the toll collector is waiting for the 60</a:t>
            </a:r>
            <a:r>
              <a:rPr lang="en-US" sz="1400" baseline="30000" dirty="0"/>
              <a:t>th</a:t>
            </a:r>
            <a:r>
              <a:rPr lang="en-US" sz="1400" dirty="0"/>
              <a:t> customer. Approximate the probability the total weight time is less than 8 hours and 20 min (totals 500 min)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91118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02AC08-9D9F-0E60-A998-E532E4BD2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78" y="405892"/>
            <a:ext cx="4737048" cy="11650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49719E-D77F-BA89-D436-DC5E954D9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78" y="1725422"/>
            <a:ext cx="4462275" cy="1703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569C85-1A0B-7DD0-22A2-3642E68C9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78" y="3583502"/>
            <a:ext cx="4553958" cy="10646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C57607-7F8C-D174-8261-2608659946FE}"/>
                  </a:ext>
                </a:extLst>
              </p:cNvPr>
              <p:cNvSpPr txBox="1"/>
              <p:nvPr/>
            </p:nvSpPr>
            <p:spPr>
              <a:xfrm>
                <a:off x="5882391" y="282038"/>
                <a:ext cx="3871209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0B0F0"/>
                    </a:solidFill>
                  </a:rPr>
                  <a:t>3.3-10. </a:t>
                </a:r>
                <a:r>
                  <a:rPr lang="en-US" sz="1400" dirty="0"/>
                  <a:t>Let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=0.75 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=0.25</m:t>
                        </m:r>
                      </m:e>
                    </m:d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p>
                  </m:oMath>
                </a14:m>
                <a:r>
                  <a:rPr lang="en-US" sz="1400" dirty="0"/>
                  <a:t>.</a:t>
                </a:r>
              </a:p>
              <a:p>
                <a:r>
                  <a:rPr lang="en-US" sz="1400" b="1" dirty="0"/>
                  <a:t>(a) </a:t>
                </a:r>
                <a:r>
                  <a:rPr lang="en-US" sz="1400" dirty="0"/>
                  <a:t>Find P(Y &lt; 2.2)</a:t>
                </a:r>
              </a:p>
              <a:p>
                <a:r>
                  <a:rPr lang="en-US" sz="1400" b="1" dirty="0"/>
                  <a:t>(b) </a:t>
                </a:r>
                <a:r>
                  <a:rPr lang="en-US" sz="1400" dirty="0"/>
                  <a:t>Find P(Y &gt; 2)</a:t>
                </a:r>
              </a:p>
              <a:p>
                <a:r>
                  <a:rPr lang="en-US" sz="1400" b="1" dirty="0"/>
                  <a:t>(c) </a:t>
                </a:r>
                <a:r>
                  <a:rPr lang="en-US" sz="1400" dirty="0"/>
                  <a:t>Find E(Y) and V(Y)</a:t>
                </a:r>
              </a:p>
              <a:p>
                <a:r>
                  <a:rPr lang="en-US" sz="1400" b="1" dirty="0"/>
                  <a:t>(d) </a:t>
                </a:r>
                <a:r>
                  <a:rPr lang="en-US" sz="1400" dirty="0"/>
                  <a:t>Find E(X</a:t>
                </a:r>
                <a:r>
                  <a:rPr lang="en-US" sz="1400" baseline="30000" dirty="0"/>
                  <a:t>2</a:t>
                </a:r>
                <a:r>
                  <a:rPr lang="en-US" sz="1400" dirty="0"/>
                  <a:t>)</a:t>
                </a:r>
              </a:p>
              <a:p>
                <a:endParaRPr lang="en-US" sz="1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C57607-7F8C-D174-8261-260865994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391" y="282038"/>
                <a:ext cx="3871209" cy="1600438"/>
              </a:xfrm>
              <a:prstGeom prst="rect">
                <a:avLst/>
              </a:prstGeom>
              <a:blipFill>
                <a:blip r:embed="rId5"/>
                <a:stretch>
                  <a:fillRect l="-656" t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E9BCFE-2AB6-8B66-1458-C5E75A507637}"/>
                  </a:ext>
                </a:extLst>
              </p:cNvPr>
              <p:cNvSpPr txBox="1"/>
              <p:nvPr/>
            </p:nvSpPr>
            <p:spPr>
              <a:xfrm>
                <a:off x="5882391" y="1717138"/>
                <a:ext cx="3871209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0B0F0"/>
                    </a:solidFill>
                  </a:rPr>
                  <a:t>3.3-15. </a:t>
                </a:r>
                <a:r>
                  <a:rPr lang="en-US" sz="1400" dirty="0"/>
                  <a:t>Let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𝐵𝑒𝑡𝑎</m:t>
                    </m:r>
                    <m:d>
                      <m:d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=2,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=4</m:t>
                        </m:r>
                      </m:e>
                    </m:d>
                  </m:oMath>
                </a14:m>
                <a:endParaRPr lang="en-US" sz="1400" b="0" dirty="0"/>
              </a:p>
              <a:p>
                <a:r>
                  <a:rPr lang="en-US" sz="1400" b="1" dirty="0"/>
                  <a:t>(a) </a:t>
                </a:r>
                <a:r>
                  <a:rPr lang="en-US" sz="1400" dirty="0"/>
                  <a:t>Find E(X) and V(X)</a:t>
                </a:r>
                <a:r>
                  <a:rPr lang="en-US" sz="1400" b="1" dirty="0"/>
                  <a:t> </a:t>
                </a:r>
              </a:p>
              <a:p>
                <a:r>
                  <a:rPr lang="en-US" sz="1400" b="1" dirty="0"/>
                  <a:t>(b) </a:t>
                </a:r>
                <a:r>
                  <a:rPr lang="en-US" sz="1400" dirty="0"/>
                  <a:t>Find P(X &lt; 0.5)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E9BCFE-2AB6-8B66-1458-C5E75A507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391" y="1717138"/>
                <a:ext cx="3871209" cy="738664"/>
              </a:xfrm>
              <a:prstGeom prst="rect">
                <a:avLst/>
              </a:prstGeom>
              <a:blipFill>
                <a:blip r:embed="rId6"/>
                <a:stretch>
                  <a:fillRect l="-656" t="-1695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83FD0184-8693-EDAB-F919-30A3E983DFDB}"/>
              </a:ext>
            </a:extLst>
          </p:cNvPr>
          <p:cNvSpPr/>
          <p:nvPr/>
        </p:nvSpPr>
        <p:spPr>
          <a:xfrm>
            <a:off x="2997200" y="1308100"/>
            <a:ext cx="207010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C0AE8B-B049-12B1-6949-C024FEFE0D7F}"/>
              </a:ext>
            </a:extLst>
          </p:cNvPr>
          <p:cNvSpPr/>
          <p:nvPr/>
        </p:nvSpPr>
        <p:spPr>
          <a:xfrm>
            <a:off x="3209536" y="2806700"/>
            <a:ext cx="1857764" cy="520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6765E-2AD6-8FD0-054B-EEF60D5BCC4A}"/>
              </a:ext>
            </a:extLst>
          </p:cNvPr>
          <p:cNvSpPr/>
          <p:nvPr/>
        </p:nvSpPr>
        <p:spPr>
          <a:xfrm>
            <a:off x="834636" y="3050102"/>
            <a:ext cx="1857764" cy="520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71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5E54-B218-6ED1-4DEE-DB51E5B46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5441" y="489886"/>
            <a:ext cx="6191677" cy="6073146"/>
          </a:xfrm>
        </p:spPr>
        <p:txBody>
          <a:bodyPr/>
          <a:lstStyle/>
          <a:p>
            <a:pPr marL="152396" indent="0">
              <a:buNone/>
            </a:pPr>
            <a:r>
              <a:rPr lang="en-US" sz="2000" dirty="0"/>
              <a:t>select   </a:t>
            </a:r>
            <a:r>
              <a:rPr lang="en-US" b="1" u="sng" dirty="0"/>
              <a:t>Answers</a:t>
            </a:r>
            <a:endParaRPr lang="en-US" sz="1600" b="1" u="sng" dirty="0"/>
          </a:p>
          <a:p>
            <a:pPr marL="152396" indent="0">
              <a:buNone/>
            </a:pPr>
            <a:r>
              <a:rPr lang="en-US" sz="1600" dirty="0"/>
              <a:t>** note all normal probabilities s were found with normalcdf()</a:t>
            </a:r>
          </a:p>
          <a:p>
            <a:pPr marL="152396" indent="0">
              <a:buNone/>
            </a:pPr>
            <a:r>
              <a:rPr lang="en-US" sz="1600" dirty="0"/>
              <a:t>     so z-table answers will be close</a:t>
            </a:r>
          </a:p>
          <a:p>
            <a:pPr marL="152396" indent="0">
              <a:buNone/>
            </a:pPr>
            <a:endParaRPr lang="en-US" sz="2000" b="1" u="sng" dirty="0"/>
          </a:p>
          <a:p>
            <a:pPr marL="152396" indent="0">
              <a:buNone/>
            </a:pPr>
            <a:r>
              <a:rPr lang="en-US" sz="2000" dirty="0"/>
              <a:t>2.5-1) a) Prob ≈ 0.2824</a:t>
            </a:r>
          </a:p>
          <a:p>
            <a:pPr marL="152396" indent="0">
              <a:buNone/>
            </a:pPr>
            <a:r>
              <a:rPr lang="en-US" sz="2000" dirty="0"/>
              <a:t>            b) Prob ≈ 0.0236</a:t>
            </a:r>
          </a:p>
          <a:p>
            <a:pPr marL="152396" indent="0">
              <a:buNone/>
            </a:pPr>
            <a:endParaRPr lang="en-US" sz="2000" dirty="0"/>
          </a:p>
          <a:p>
            <a:pPr marL="152396" indent="0">
              <a:buNone/>
            </a:pPr>
            <a:r>
              <a:rPr lang="en-US" sz="2000" dirty="0"/>
              <a:t>2.5-3) a) E(X) ≈ 16.67, V(X) ≈ 11.11</a:t>
            </a:r>
          </a:p>
          <a:p>
            <a:pPr marL="152396" indent="0">
              <a:buNone/>
            </a:pPr>
            <a:r>
              <a:rPr lang="en-US" sz="2000" dirty="0"/>
              <a:t>            b) Prob ≈ 0.1240</a:t>
            </a:r>
          </a:p>
          <a:p>
            <a:pPr marL="152396" indent="0">
              <a:buNone/>
            </a:pPr>
            <a:endParaRPr lang="en-US" sz="2000" dirty="0"/>
          </a:p>
          <a:p>
            <a:pPr marL="152396" indent="0">
              <a:buNone/>
            </a:pPr>
            <a:r>
              <a:rPr lang="en-US" sz="2000" dirty="0"/>
              <a:t>2.1-14) Prob ≈ 0.60</a:t>
            </a:r>
          </a:p>
          <a:p>
            <a:pPr marL="152396" indent="0">
              <a:buNone/>
            </a:pPr>
            <a:endParaRPr lang="en-US" sz="2000" dirty="0"/>
          </a:p>
          <a:p>
            <a:pPr marL="152396" indent="0">
              <a:buNone/>
            </a:pPr>
            <a:r>
              <a:rPr lang="en-US" sz="2000" dirty="0"/>
              <a:t>3.2-23) M ≈ 83.38</a:t>
            </a:r>
          </a:p>
          <a:p>
            <a:pPr marL="152396" indent="0">
              <a:buNone/>
            </a:pPr>
            <a:endParaRPr lang="en-US" sz="2000" dirty="0"/>
          </a:p>
          <a:p>
            <a:pPr marL="152396" indent="0">
              <a:buNone/>
            </a:pPr>
            <a:r>
              <a:rPr lang="en-US" sz="2000" dirty="0"/>
              <a:t>3.2-2) b) Prob ≈ 0.2636</a:t>
            </a:r>
          </a:p>
          <a:p>
            <a:pPr marL="152396" indent="0">
              <a:buNone/>
            </a:pPr>
            <a:endParaRPr lang="en-US" sz="2000" dirty="0"/>
          </a:p>
          <a:p>
            <a:pPr marL="152396" indent="0">
              <a:buNone/>
            </a:pPr>
            <a:r>
              <a:rPr lang="en-US" sz="2000" dirty="0"/>
              <a:t>3.3-5) a) Prob ≈ 0.3849</a:t>
            </a:r>
          </a:p>
          <a:p>
            <a:pPr marL="152396" indent="0">
              <a:buNone/>
            </a:pPr>
            <a:r>
              <a:rPr lang="en-US" sz="2000" dirty="0"/>
              <a:t>            b) Prob ≈ 0.5404</a:t>
            </a:r>
          </a:p>
          <a:p>
            <a:pPr marL="152396" indent="0">
              <a:buNone/>
            </a:pPr>
            <a:r>
              <a:rPr lang="en-US" sz="2000" dirty="0"/>
              <a:t>            c) Prob ≈ 0.0603</a:t>
            </a:r>
          </a:p>
          <a:p>
            <a:pPr marL="152396" indent="0">
              <a:buNone/>
            </a:pPr>
            <a:r>
              <a:rPr lang="en-US" sz="2000" dirty="0"/>
              <a:t>            d) Prob ≈ 0.0013</a:t>
            </a:r>
          </a:p>
          <a:p>
            <a:pPr marL="152396" indent="0">
              <a:buNone/>
            </a:pPr>
            <a:endParaRPr lang="en-US" sz="2000" dirty="0"/>
          </a:p>
          <a:p>
            <a:pPr marL="152396" indent="0">
              <a:buNone/>
            </a:pP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88CE6-F964-A2F3-B1D6-6390E3E98B9A}"/>
              </a:ext>
            </a:extLst>
          </p:cNvPr>
          <p:cNvSpPr txBox="1"/>
          <p:nvPr/>
        </p:nvSpPr>
        <p:spPr>
          <a:xfrm>
            <a:off x="4743718" y="1299930"/>
            <a:ext cx="3031599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52396" indent="0">
              <a:buNone/>
            </a:pPr>
            <a:endParaRPr lang="en-US" sz="1800" dirty="0"/>
          </a:p>
          <a:p>
            <a:pPr marL="152396" indent="0">
              <a:buNone/>
            </a:pPr>
            <a:r>
              <a:rPr lang="en-US" dirty="0"/>
              <a:t>2.1-1</a:t>
            </a:r>
            <a:r>
              <a:rPr lang="en-US" sz="1800" dirty="0"/>
              <a:t>0) a) Prob ≈ 0.3980</a:t>
            </a:r>
          </a:p>
          <a:p>
            <a:pPr marL="152396" indent="0">
              <a:buNone/>
            </a:pPr>
            <a:r>
              <a:rPr lang="en-US" sz="1800" dirty="0"/>
              <a:t>             b) Prob ≈ 0.9020</a:t>
            </a:r>
          </a:p>
          <a:p>
            <a:pPr marL="152396" indent="0">
              <a:buNone/>
            </a:pPr>
            <a:endParaRPr lang="en-US" sz="1800" dirty="0"/>
          </a:p>
          <a:p>
            <a:pPr marL="152396"/>
            <a:r>
              <a:rPr lang="en-US" sz="1800" dirty="0"/>
              <a:t>2.4-9) b) E(X) =16 , V(X) = 3.2</a:t>
            </a:r>
          </a:p>
          <a:p>
            <a:pPr marL="152396"/>
            <a:r>
              <a:rPr lang="en-US" sz="1800" dirty="0"/>
              <a:t>           c) i) Prob ≈ 0.1746</a:t>
            </a:r>
          </a:p>
          <a:p>
            <a:pPr marL="152396"/>
            <a:r>
              <a:rPr lang="en-US" dirty="0"/>
              <a:t>               ii) </a:t>
            </a:r>
            <a:r>
              <a:rPr lang="en-US" sz="1800" dirty="0"/>
              <a:t>Prob ≈ 0.6296</a:t>
            </a:r>
            <a:endParaRPr lang="en-US" dirty="0"/>
          </a:p>
          <a:p>
            <a:pPr marL="152396"/>
            <a:r>
              <a:rPr lang="en-US" sz="1800" dirty="0"/>
              <a:t>               iii) Prob ≈ 0.3704</a:t>
            </a:r>
          </a:p>
          <a:p>
            <a:pPr marL="152396" indent="0">
              <a:buNone/>
            </a:pPr>
            <a:endParaRPr lang="en-US" sz="1800" dirty="0"/>
          </a:p>
          <a:p>
            <a:pPr marL="152396" indent="0">
              <a:buNone/>
            </a:pPr>
            <a:r>
              <a:rPr lang="en-US" dirty="0"/>
              <a:t>3</a:t>
            </a:r>
            <a:r>
              <a:rPr lang="en-US" sz="1800" dirty="0"/>
              <a:t>.3-2) a) Prob ≈ 0.3078</a:t>
            </a:r>
          </a:p>
          <a:p>
            <a:pPr marL="152396" indent="0">
              <a:buNone/>
            </a:pPr>
            <a:r>
              <a:rPr lang="en-US" sz="1800" dirty="0"/>
              <a:t>            b) Prob ≈ 0.4959</a:t>
            </a:r>
          </a:p>
          <a:p>
            <a:pPr marL="152396" indent="0">
              <a:buNone/>
            </a:pPr>
            <a:r>
              <a:rPr lang="en-US" sz="1800" dirty="0"/>
              <a:t>            c) Prob ≈ 0.2712</a:t>
            </a:r>
          </a:p>
          <a:p>
            <a:pPr marL="152396" indent="0">
              <a:buNone/>
            </a:pPr>
            <a:r>
              <a:rPr lang="en-US" sz="1800" dirty="0"/>
              <a:t>            d) Prob ≈ 0.1645</a:t>
            </a:r>
          </a:p>
          <a:p>
            <a:pPr marL="152396"/>
            <a:r>
              <a:rPr lang="en-US" dirty="0"/>
              <a:t>            e) </a:t>
            </a:r>
            <a:r>
              <a:rPr lang="en-US" sz="1800" dirty="0"/>
              <a:t>Prob ≈ 0.0526</a:t>
            </a:r>
            <a:br>
              <a:rPr lang="en-US" sz="1800" dirty="0"/>
            </a:br>
            <a:endParaRPr lang="en-US" sz="1800" dirty="0"/>
          </a:p>
          <a:p>
            <a:pPr marL="152396" indent="0">
              <a:buNone/>
            </a:pPr>
            <a:r>
              <a:rPr lang="en-US" dirty="0"/>
              <a:t>3.2-24) Prob = 0.75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49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5E54-B218-6ED1-4DEE-DB51E5B46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5441" y="489886"/>
            <a:ext cx="6191677" cy="6073146"/>
          </a:xfrm>
        </p:spPr>
        <p:txBody>
          <a:bodyPr/>
          <a:lstStyle/>
          <a:p>
            <a:pPr marL="152396" indent="0">
              <a:buNone/>
            </a:pPr>
            <a:endParaRPr lang="en-US" sz="2000" b="1" u="sng" dirty="0"/>
          </a:p>
          <a:p>
            <a:pPr marL="152396" indent="0">
              <a:buNone/>
            </a:pPr>
            <a:r>
              <a:rPr lang="en-US" sz="2000" dirty="0"/>
              <a:t>2.4-20) a) Prob ≈ 0.1607</a:t>
            </a:r>
          </a:p>
          <a:p>
            <a:pPr marL="152396" indent="0">
              <a:buNone/>
            </a:pPr>
            <a:r>
              <a:rPr lang="en-US" sz="2000" dirty="0"/>
              <a:t>            b) Prob = 0.51</a:t>
            </a:r>
          </a:p>
          <a:p>
            <a:pPr marL="152396" indent="0">
              <a:buNone/>
            </a:pPr>
            <a:r>
              <a:rPr lang="en-US" sz="2000" dirty="0"/>
              <a:t>            c) Prob ≈ 0.55</a:t>
            </a:r>
          </a:p>
          <a:p>
            <a:pPr marL="152396" indent="0">
              <a:buNone/>
            </a:pPr>
            <a:r>
              <a:rPr lang="en-US" sz="2000" dirty="0"/>
              <a:t>            d) Prob ≈ 0.2</a:t>
            </a:r>
          </a:p>
          <a:p>
            <a:pPr marL="152396" indent="0">
              <a:buNone/>
            </a:pPr>
            <a:endParaRPr lang="en-US" sz="2000" dirty="0"/>
          </a:p>
          <a:p>
            <a:pPr marL="152396" indent="0">
              <a:buNone/>
            </a:pPr>
            <a:endParaRPr lang="en-US" sz="2000" dirty="0"/>
          </a:p>
          <a:p>
            <a:pPr marL="152396" indent="0">
              <a:buNone/>
            </a:pPr>
            <a:r>
              <a:rPr lang="en-US" sz="2000" dirty="0"/>
              <a:t>2.3-13) Prob = 0.1024</a:t>
            </a:r>
          </a:p>
          <a:p>
            <a:pPr marL="152396" indent="0">
              <a:buNone/>
            </a:pPr>
            <a:endParaRPr lang="en-US" sz="2000" dirty="0"/>
          </a:p>
          <a:p>
            <a:pPr marL="152396" indent="0">
              <a:buNone/>
            </a:pPr>
            <a:r>
              <a:rPr lang="en-US" sz="2000" dirty="0"/>
              <a:t>2.6-5) Prob ≈ 0.5578</a:t>
            </a:r>
          </a:p>
          <a:p>
            <a:pPr marL="152396" indent="0">
              <a:buNone/>
            </a:pPr>
            <a:endParaRPr lang="en-US" sz="2000" dirty="0"/>
          </a:p>
          <a:p>
            <a:pPr marL="152396" indent="0">
              <a:buNone/>
            </a:pPr>
            <a:r>
              <a:rPr lang="en-US" sz="2000" dirty="0"/>
              <a:t>3.2-16) a) Prob ≈ 0.9392</a:t>
            </a:r>
          </a:p>
          <a:p>
            <a:pPr marL="152396" indent="0">
              <a:buNone/>
            </a:pPr>
            <a:r>
              <a:rPr lang="en-US" sz="2000" dirty="0"/>
              <a:t>             b) Prob ≈ 0.1353</a:t>
            </a:r>
          </a:p>
          <a:p>
            <a:pPr marL="152396" indent="0">
              <a:buNone/>
            </a:pPr>
            <a:r>
              <a:rPr lang="en-US" sz="2000" dirty="0"/>
              <a:t>             c) Prob ≈ 0.1123</a:t>
            </a:r>
          </a:p>
          <a:p>
            <a:pPr marL="152396" indent="0">
              <a:buNone/>
            </a:pPr>
            <a:r>
              <a:rPr lang="en-US" sz="2000" dirty="0"/>
              <a:t>             d) Prob ≈ 0.0984</a:t>
            </a:r>
          </a:p>
          <a:p>
            <a:pPr marL="152396" indent="0">
              <a:buNone/>
            </a:pPr>
            <a:endParaRPr lang="en-US" sz="2000" dirty="0"/>
          </a:p>
          <a:p>
            <a:pPr marL="152396" indent="0">
              <a:buNone/>
            </a:pPr>
            <a:endParaRPr lang="en-US" sz="2000" dirty="0"/>
          </a:p>
          <a:p>
            <a:pPr marL="152396" indent="0">
              <a:buNone/>
            </a:pP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88CE6-F964-A2F3-B1D6-6390E3E98B9A}"/>
              </a:ext>
            </a:extLst>
          </p:cNvPr>
          <p:cNvSpPr txBox="1"/>
          <p:nvPr/>
        </p:nvSpPr>
        <p:spPr>
          <a:xfrm>
            <a:off x="3689618" y="489886"/>
            <a:ext cx="3897221" cy="75713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52396" indent="0">
              <a:buNone/>
            </a:pPr>
            <a:endParaRPr lang="en-US" sz="1800" dirty="0"/>
          </a:p>
          <a:p>
            <a:pPr marL="152396"/>
            <a:r>
              <a:rPr lang="en-US" dirty="0"/>
              <a:t>2.4-4</a:t>
            </a:r>
            <a:r>
              <a:rPr lang="en-US" sz="1800" dirty="0"/>
              <a:t>) b) i) Prob ≈ 0.2834</a:t>
            </a:r>
          </a:p>
          <a:p>
            <a:pPr marL="152396"/>
            <a:r>
              <a:rPr lang="en-US" dirty="0"/>
              <a:t>                ii) </a:t>
            </a:r>
            <a:r>
              <a:rPr lang="en-US" sz="1800" dirty="0"/>
              <a:t>Prob ≈ 0.3960</a:t>
            </a:r>
            <a:endParaRPr lang="en-US" dirty="0"/>
          </a:p>
          <a:p>
            <a:pPr marL="152396" indent="0">
              <a:buNone/>
            </a:pPr>
            <a:r>
              <a:rPr lang="en-US" sz="1800" dirty="0"/>
              <a:t>                iii) Prob ≈ 0.9879</a:t>
            </a:r>
          </a:p>
          <a:p>
            <a:pPr marL="152396" indent="0">
              <a:buNone/>
            </a:pPr>
            <a:endParaRPr lang="en-US" sz="1800" dirty="0"/>
          </a:p>
          <a:p>
            <a:pPr marL="152396" indent="0">
              <a:buNone/>
            </a:pPr>
            <a:r>
              <a:rPr lang="en-US" sz="1800" dirty="0"/>
              <a:t>2.3-15) a) Prob ≈ 0.4604</a:t>
            </a:r>
          </a:p>
          <a:p>
            <a:pPr marL="152396" indent="0">
              <a:buNone/>
            </a:pPr>
            <a:r>
              <a:rPr lang="en-US" sz="1800" dirty="0"/>
              <a:t>             b) Prob ≈ 0.5580</a:t>
            </a:r>
          </a:p>
          <a:p>
            <a:pPr marL="152396" indent="0">
              <a:buNone/>
            </a:pPr>
            <a:r>
              <a:rPr lang="en-US" sz="1800" dirty="0"/>
              <a:t>             c) Prob ≈ 0.0184</a:t>
            </a:r>
          </a:p>
          <a:p>
            <a:pPr marL="152396" indent="0">
              <a:buNone/>
            </a:pPr>
            <a:endParaRPr lang="en-US" sz="1800" dirty="0"/>
          </a:p>
          <a:p>
            <a:pPr marL="152396" indent="0">
              <a:buNone/>
            </a:pPr>
            <a:r>
              <a:rPr lang="en-US" sz="1800" dirty="0"/>
              <a:t>2.6-1) a) Prob ≈ 0.6936</a:t>
            </a:r>
          </a:p>
          <a:p>
            <a:pPr marL="152396" indent="0">
              <a:buNone/>
            </a:pPr>
            <a:r>
              <a:rPr lang="en-US" sz="1800" dirty="0"/>
              <a:t>            b) Prob ≈ 0.7619</a:t>
            </a:r>
          </a:p>
          <a:p>
            <a:pPr marL="152396" indent="0">
              <a:buNone/>
            </a:pPr>
            <a:r>
              <a:rPr lang="en-US" sz="1800" dirty="0"/>
              <a:t>            c) Prob ≈ 0.4335</a:t>
            </a:r>
          </a:p>
          <a:p>
            <a:pPr marL="152396" indent="0">
              <a:buNone/>
            </a:pPr>
            <a:endParaRPr lang="en-US" sz="1800" dirty="0"/>
          </a:p>
          <a:p>
            <a:pPr marL="152396" indent="0">
              <a:buNone/>
            </a:pPr>
            <a:r>
              <a:rPr lang="en-US" dirty="0"/>
              <a:t>3.3-10</a:t>
            </a:r>
            <a:r>
              <a:rPr lang="en-US" sz="1800" dirty="0"/>
              <a:t>) a) Prob ≈ 0.5611</a:t>
            </a:r>
          </a:p>
          <a:p>
            <a:pPr marL="152396" indent="0">
              <a:buNone/>
            </a:pPr>
            <a:r>
              <a:rPr lang="en-US" sz="1800" dirty="0"/>
              <a:t>             b) Prob ≈ 0.5899</a:t>
            </a:r>
          </a:p>
          <a:p>
            <a:pPr marL="152396" indent="0">
              <a:buNone/>
            </a:pPr>
            <a:r>
              <a:rPr lang="en-US" sz="1800" dirty="0"/>
              <a:t>             c) E(X) ≈ 2.1842, V(X) ≈ 0.3077</a:t>
            </a:r>
          </a:p>
          <a:p>
            <a:pPr marL="152396" indent="0">
              <a:buNone/>
            </a:pPr>
            <a:r>
              <a:rPr lang="en-US" dirty="0"/>
              <a:t>             d) E(X</a:t>
            </a:r>
            <a:r>
              <a:rPr lang="en-US" baseline="30000" dirty="0"/>
              <a:t>2</a:t>
            </a:r>
            <a:r>
              <a:rPr lang="en-US" dirty="0"/>
              <a:t>) </a:t>
            </a:r>
            <a:r>
              <a:rPr lang="en-US" sz="1800" dirty="0"/>
              <a:t>≈ 5.0784</a:t>
            </a:r>
          </a:p>
          <a:p>
            <a:pPr marL="152396" indent="0">
              <a:buNone/>
            </a:pPr>
            <a:endParaRPr lang="en-US" dirty="0"/>
          </a:p>
          <a:p>
            <a:pPr marL="152396"/>
            <a:r>
              <a:rPr lang="en-US" dirty="0"/>
              <a:t>3.3-15</a:t>
            </a:r>
            <a:r>
              <a:rPr lang="en-US" sz="1800" dirty="0"/>
              <a:t>) a) E(X) ≈ 0.3333, V(X) ≈ 0.0317</a:t>
            </a:r>
          </a:p>
          <a:p>
            <a:pPr marL="152396"/>
            <a:r>
              <a:rPr lang="en-US" dirty="0"/>
              <a:t>              b</a:t>
            </a:r>
            <a:r>
              <a:rPr lang="en-US" sz="1800" dirty="0"/>
              <a:t>) Prob = 0.8125</a:t>
            </a:r>
          </a:p>
          <a:p>
            <a:pPr marL="152396" indent="0">
              <a:buNone/>
            </a:pPr>
            <a:endParaRPr lang="en-US" sz="1800" dirty="0">
              <a:solidFill>
                <a:srgbClr val="00B050"/>
              </a:solidFill>
            </a:endParaRP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250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2120</TotalTime>
  <Words>547</Words>
  <Application>Microsoft Macintosh PowerPoint</Application>
  <PresentationFormat>Widescreen</PresentationFormat>
  <Paragraphs>93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Gearhart, Colton Mr.</dc:creator>
  <cp:lastModifiedBy>Gearhart, Colton</cp:lastModifiedBy>
  <cp:revision>48</cp:revision>
  <dcterms:created xsi:type="dcterms:W3CDTF">2022-11-09T01:27:32Z</dcterms:created>
  <dcterms:modified xsi:type="dcterms:W3CDTF">2023-11-16T01:37:52Z</dcterms:modified>
</cp:coreProperties>
</file>