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411" r:id="rId2"/>
    <p:sldId id="412" r:id="rId3"/>
    <p:sldId id="41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178"/>
    <p:restoredTop sz="93575"/>
  </p:normalViewPr>
  <p:slideViewPr>
    <p:cSldViewPr snapToGrid="0">
      <p:cViewPr varScale="1">
        <p:scale>
          <a:sx n="100" d="100"/>
          <a:sy n="100" d="100"/>
        </p:scale>
        <p:origin x="184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A486E-77D8-8E45-B782-DCB14EA2A774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332E5-5CC8-9C4B-8D43-75CC7B0B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79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AF432-CA97-29F4-DC8C-40021CD19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5F039-71B3-9040-871B-2DB8940A9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F41F7-0B44-1046-371E-8213178F8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A9066-5AC5-0500-CF46-B733D87AD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1C19-EF47-BD12-4412-896201EFF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78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932F0-17E4-A7FD-8081-2A6797418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9C282-C52B-A1A4-E4BC-CFC2F9F00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246B3-EBBB-8919-0A89-CD857C414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0E43E-11F9-F9E2-62B2-D2247E631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BE289-1C38-6976-4F51-168887AA9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82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668F0-5117-E5F4-498B-3BC2B9E64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4D687-23AB-761D-10C4-9249CCFB8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7FD43-1D31-C1CB-ECF1-0CF237166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3E1E2-02A1-B1A8-19C7-E2DA246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FD2D7-2651-AFCE-E705-6CC1F3396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99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CE013-4C4F-9612-F731-4825D3A89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0418C-43B8-F685-F967-D7AC42E9BE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14C03-C619-3970-5716-A16278B64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1ED839-EA64-8AD5-15AA-69FBD2BA2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FD805-85BC-062B-39E9-E07B70CA6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ABD6A-ACA1-0705-2066-CC2D82015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806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1716A-17B3-6F85-26BF-47A859B3F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68BE5-F76B-EE2A-02BE-8266E51E6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F732A9-0020-0698-B373-100A9A71B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20572C-F535-CE34-B0FF-8B50B11D9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CC7033-3373-A905-02BA-615CBE899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114ABC-2BD1-5D80-3FB4-314EBAE2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91479A-F497-CF40-72B7-456A4EB4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365D80-84A5-F7EF-D758-A07F22509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94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8C9ED-DDB3-6740-E885-95929519E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15F18-289D-6A87-120A-FED383DD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75A11A-DC6B-A4B1-F9EC-7ABFFABCC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35C54D-086D-8F1C-68E5-E7A3C6553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07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9A61E3-A173-CA03-272F-BD70EDA42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8CE963-9B32-112B-DF21-3883B6DED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7F783-0CA4-435E-6661-904592069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99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8258B-2CEF-159C-00F5-D62D45270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83C09-00DF-BA04-9D4B-4C754D78C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62F0E-2583-10C0-7F18-56E218345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4393A-0258-5D8F-FC63-D9CA95530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4638F-D182-FC05-0C92-E7F3D96CF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D9B03-0D3A-8165-8162-88F5C3BEE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04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4FCFC-8CEF-ACF4-922F-48C4A6838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492A8B-F459-3BDA-1763-122E856875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BC5B04-5365-81BE-12AA-FE18F5FF3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EDEBF-36DC-D0F5-AC1C-A71056B1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DE4FC8-059E-72AC-41C4-DA1D32808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BABFF-03B1-FD42-C6E8-90A1636FF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8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6B506-952A-FFF5-03EA-138D53B71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70C968-8F0F-4CC6-68AA-9FF794ACB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6C730-1B8A-67A4-4049-0A98B44B9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A2178-F38B-EE80-521A-BAAAD2CAF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49FA3-3E6F-5A57-E62F-BF2242B77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46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5CDE77-4494-0239-5824-C57AF23F9A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2E670-EF7E-E71C-E352-C2DC028DA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DCF35-80B2-47B5-5EE7-0AD5309F7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A728D-D754-751D-04E2-CE87003A8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1EA90-5423-DA02-9E35-E9D6BBC2A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040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97456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2B7133-CBC8-8C79-54AB-2B6D68D4F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27B57-C403-2F05-1E03-EE7227E70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EF81D-EE00-AACE-CFEB-F4803AFFB4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AE08B-FC62-A14A-A283-DE322E7D125E}" type="datetimeFigureOut">
              <a:rPr lang="en-US" smtClean="0"/>
              <a:t>10/19/23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F08ED-917A-87F0-2775-A929F781CB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7DB4D-F222-1DD2-74AC-7AA67ECAC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903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1E923D48-1CC2-2C17-9724-3375F6C0A52C}"/>
              </a:ext>
            </a:extLst>
          </p:cNvPr>
          <p:cNvGrpSpPr/>
          <p:nvPr/>
        </p:nvGrpSpPr>
        <p:grpSpPr>
          <a:xfrm>
            <a:off x="6341607" y="419350"/>
            <a:ext cx="4772310" cy="1533117"/>
            <a:chOff x="6350961" y="248591"/>
            <a:chExt cx="4772310" cy="1533117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02DD64A-06B2-2660-655B-6625872EE7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12407" b="55336"/>
            <a:stretch/>
          </p:blipFill>
          <p:spPr>
            <a:xfrm>
              <a:off x="6350961" y="248591"/>
              <a:ext cx="4772310" cy="27227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1126E9E-7EE6-7B17-D9D4-6CF48E0D64FB}"/>
                    </a:ext>
                  </a:extLst>
                </p:cNvPr>
                <p:cNvSpPr txBox="1"/>
                <p:nvPr/>
              </p:nvSpPr>
              <p:spPr>
                <a:xfrm>
                  <a:off x="6979024" y="581379"/>
                  <a:ext cx="4140877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(a) Plot the pdf.</a:t>
                  </a:r>
                </a:p>
                <a:p>
                  <a:r>
                    <a:rPr lang="en-US" dirty="0"/>
                    <a:t>(b) Find the cdf and plot it.</a:t>
                  </a:r>
                </a:p>
                <a:p>
                  <a:r>
                    <a:rPr lang="en-US" dirty="0"/>
                    <a:t>(c) Find the median </a:t>
                  </a:r>
                  <a:r>
                    <a:rPr lang="en-US" i="1" dirty="0"/>
                    <a:t>m, IQR</a:t>
                  </a:r>
                  <a:r>
                    <a:rPr lang="en-US" dirty="0"/>
                    <a:t>, E(X), and V(X).</a:t>
                  </a:r>
                </a:p>
                <a:p>
                  <a:r>
                    <a:rPr lang="en-US" dirty="0"/>
                    <a:t>(d) Find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en-US" dirty="0"/>
                    <a:t>.</a:t>
                  </a: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1126E9E-7EE6-7B17-D9D4-6CF48E0D64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9024" y="581379"/>
                  <a:ext cx="4140877" cy="1200329"/>
                </a:xfrm>
                <a:prstGeom prst="rect">
                  <a:avLst/>
                </a:prstGeom>
                <a:blipFill>
                  <a:blip r:embed="rId3"/>
                  <a:stretch>
                    <a:fillRect l="-1220" t="-2105" b="-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F35C0082-C63B-1DA8-7C9A-C0D8529D7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680" y="4400234"/>
            <a:ext cx="5847195" cy="168122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0BF7BFF-4851-8012-49D0-E680C015D9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0926"/>
            <a:ext cx="6057900" cy="2336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C57541D-B0E5-E13B-FA1B-B3EA4E12A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25" y="4770860"/>
            <a:ext cx="5448300" cy="1955800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B90F232E-C3E6-8DF8-16B7-AB2D1E2F09E4}"/>
              </a:ext>
            </a:extLst>
          </p:cNvPr>
          <p:cNvGrpSpPr/>
          <p:nvPr/>
        </p:nvGrpSpPr>
        <p:grpSpPr>
          <a:xfrm>
            <a:off x="91716" y="2292017"/>
            <a:ext cx="5486400" cy="2604553"/>
            <a:chOff x="129993" y="2711101"/>
            <a:chExt cx="5486400" cy="2604553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8A25D85-9F92-C280-EEAC-9807237A0D9E}"/>
                </a:ext>
              </a:extLst>
            </p:cNvPr>
            <p:cNvGrpSpPr/>
            <p:nvPr/>
          </p:nvGrpSpPr>
          <p:grpSpPr>
            <a:xfrm>
              <a:off x="129993" y="2711101"/>
              <a:ext cx="5486400" cy="2604553"/>
              <a:chOff x="129993" y="2711101"/>
              <a:chExt cx="5486400" cy="2604553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75918A26-2E0E-7CCF-D5F2-ACB2352FD4A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b="20253"/>
              <a:stretch/>
            </p:blipFill>
            <p:spPr>
              <a:xfrm>
                <a:off x="129993" y="2711101"/>
                <a:ext cx="5486400" cy="1681223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4ADF7548-7C3F-44C8-1235-DC2639845555}"/>
                      </a:ext>
                    </a:extLst>
                  </p:cNvPr>
                  <p:cNvSpPr txBox="1"/>
                  <p:nvPr/>
                </p:nvSpPr>
                <p:spPr>
                  <a:xfrm>
                    <a:off x="209402" y="4392324"/>
                    <a:ext cx="5145961" cy="92333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(b) Write the cdf as a table.</a:t>
                    </a:r>
                  </a:p>
                  <a:p>
                    <a:r>
                      <a:rPr lang="en-US" dirty="0"/>
                      <a:t>(c) Find </a:t>
                    </a:r>
                    <a14:m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&lt; 5)</m:t>
                        </m:r>
                      </m:oMath>
                    </a14:m>
                    <a:r>
                      <a:rPr lang="en-US" dirty="0"/>
                      <a:t>, </a:t>
                    </a:r>
                    <a14:m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≥2)</m:t>
                        </m:r>
                      </m:oMath>
                    </a14:m>
                    <a:r>
                      <a:rPr lang="en-US" dirty="0"/>
                      <a:t>, and </a:t>
                    </a:r>
                    <a14:m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≤4</m:t>
                            </m:r>
                          </m:e>
                        </m:d>
                      </m:oMath>
                    </a14:m>
                    <a:r>
                      <a:rPr lang="en-US" dirty="0"/>
                      <a:t>.</a:t>
                    </a:r>
                  </a:p>
                  <a:p>
                    <a:r>
                      <a:rPr lang="en-US" dirty="0"/>
                      <a:t>(d) Plot the cdf.</a:t>
                    </a:r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4ADF7548-7C3F-44C8-1235-DC26398455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9402" y="4392324"/>
                    <a:ext cx="5145961" cy="92333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985" t="-2703" b="-945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CA8A373-1A38-BAA8-5350-34C48BFAD1EB}"/>
                </a:ext>
              </a:extLst>
            </p:cNvPr>
            <p:cNvSpPr txBox="1"/>
            <p:nvPr/>
          </p:nvSpPr>
          <p:spPr>
            <a:xfrm>
              <a:off x="2971703" y="4081948"/>
              <a:ext cx="11340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as a table.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887CFCD-8D14-566D-5D2B-C478A9C5AFA7}"/>
              </a:ext>
            </a:extLst>
          </p:cNvPr>
          <p:cNvGrpSpPr/>
          <p:nvPr/>
        </p:nvGrpSpPr>
        <p:grpSpPr>
          <a:xfrm>
            <a:off x="6485986" y="2071975"/>
            <a:ext cx="4815101" cy="2036568"/>
            <a:chOff x="6375025" y="3324154"/>
            <a:chExt cx="4815101" cy="2036568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D7E07EB8-98B0-C8E4-F0F8-986F15CDA5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b="24148"/>
            <a:stretch/>
          </p:blipFill>
          <p:spPr>
            <a:xfrm>
              <a:off x="6375025" y="3324154"/>
              <a:ext cx="4025900" cy="250463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7C1FDA15-90F0-D225-80F4-87402B21C618}"/>
                    </a:ext>
                  </a:extLst>
                </p:cNvPr>
                <p:cNvSpPr txBox="1"/>
                <p:nvPr/>
              </p:nvSpPr>
              <p:spPr>
                <a:xfrm>
                  <a:off x="6782509" y="3606396"/>
                  <a:ext cx="4407617" cy="17543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(a) Find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&lt;−0.25)</m:t>
                      </m:r>
                    </m:oMath>
                  </a14:m>
                  <a:r>
                    <a:rPr lang="en-US" dirty="0"/>
                    <a:t> and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≥−0.25)</m:t>
                      </m:r>
                    </m:oMath>
                  </a14:m>
                  <a:r>
                    <a:rPr lang="en-US" dirty="0"/>
                    <a:t>. </a:t>
                  </a:r>
                </a:p>
                <a:p>
                  <a:r>
                    <a:rPr lang="en-US" dirty="0"/>
                    <a:t>(b) Find the 29</a:t>
                  </a:r>
                  <a:r>
                    <a:rPr lang="en-US" baseline="30000" dirty="0"/>
                    <a:t>th</a:t>
                  </a:r>
                  <a:r>
                    <a:rPr lang="en-US" dirty="0"/>
                    <a:t> percentile.</a:t>
                  </a:r>
                </a:p>
                <a:p>
                  <a:r>
                    <a:rPr lang="en-US" dirty="0"/>
                    <a:t>(c) Find the cutoff for the upper 33</a:t>
                  </a:r>
                  <a:r>
                    <a:rPr lang="en-US" baseline="30000" dirty="0"/>
                    <a:t>rd</a:t>
                  </a:r>
                  <a:r>
                    <a:rPr lang="en-US" dirty="0"/>
                    <a:t> percent.</a:t>
                  </a:r>
                </a:p>
                <a:p>
                  <a:r>
                    <a:rPr lang="en-US" dirty="0"/>
                    <a:t>(d) Using the cdf, find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−0.5&lt;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≤0.75</m:t>
                          </m:r>
                        </m:e>
                      </m:d>
                    </m:oMath>
                  </a14:m>
                  <a:endParaRPr lang="en-US" b="0" dirty="0"/>
                </a:p>
                <a:p>
                  <a:r>
                    <a:rPr lang="en-US" dirty="0"/>
                    <a:t>      and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&gt;0)</m:t>
                      </m:r>
                    </m:oMath>
                  </a14:m>
                  <a:r>
                    <a:rPr lang="en-US" dirty="0"/>
                    <a:t>.</a:t>
                  </a:r>
                </a:p>
                <a:p>
                  <a:r>
                    <a:rPr lang="en-US" dirty="0"/>
                    <a:t>(e) Find the mode.</a:t>
                  </a:r>
                </a:p>
              </p:txBody>
            </p:sp>
          </mc:Choice>
          <mc:Fallback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7C1FDA15-90F0-D225-80F4-87402B21C6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2509" y="3606396"/>
                  <a:ext cx="4407617" cy="1754326"/>
                </a:xfrm>
                <a:prstGeom prst="rect">
                  <a:avLst/>
                </a:prstGeom>
                <a:blipFill>
                  <a:blip r:embed="rId10"/>
                  <a:stretch>
                    <a:fillRect l="-1149" t="-1439" r="-287" b="-50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01465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999323A-7F07-7215-BC62-E8C7AEC294C8}"/>
              </a:ext>
            </a:extLst>
          </p:cNvPr>
          <p:cNvGrpSpPr/>
          <p:nvPr/>
        </p:nvGrpSpPr>
        <p:grpSpPr>
          <a:xfrm>
            <a:off x="530693" y="253332"/>
            <a:ext cx="4559300" cy="1779032"/>
            <a:chOff x="471571" y="2056732"/>
            <a:chExt cx="4559300" cy="177903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412CF20-D1EB-CA19-F7C8-7FB8731597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1571" y="2056732"/>
              <a:ext cx="4559300" cy="14097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28769A2-08DB-9F6D-39B2-1FC8EE5BAE14}"/>
                </a:ext>
              </a:extLst>
            </p:cNvPr>
            <p:cNvSpPr txBox="1"/>
            <p:nvPr/>
          </p:nvSpPr>
          <p:spPr>
            <a:xfrm>
              <a:off x="471571" y="3466432"/>
              <a:ext cx="18490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and V(X) by hand.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055ADD4-CF5A-3C84-AEE2-A5E03EA89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90" y="2287337"/>
            <a:ext cx="5537200" cy="91440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64E9DA8-75C3-EB38-2852-AEC5A965F528}"/>
              </a:ext>
            </a:extLst>
          </p:cNvPr>
          <p:cNvGrpSpPr/>
          <p:nvPr/>
        </p:nvGrpSpPr>
        <p:grpSpPr>
          <a:xfrm>
            <a:off x="215240" y="3429000"/>
            <a:ext cx="5724650" cy="2357398"/>
            <a:chOff x="6467350" y="246462"/>
            <a:chExt cx="5724650" cy="235739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E01165B-1511-A393-2E7C-D1A27327CBE2}"/>
                </a:ext>
              </a:extLst>
            </p:cNvPr>
            <p:cNvGrpSpPr/>
            <p:nvPr/>
          </p:nvGrpSpPr>
          <p:grpSpPr>
            <a:xfrm>
              <a:off x="6743700" y="246462"/>
              <a:ext cx="5448300" cy="1988066"/>
              <a:chOff x="6096000" y="253332"/>
              <a:chExt cx="5448300" cy="1988066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EAF52FC6-2CC7-8CB1-00D0-2B1A9F6099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6000" y="253332"/>
                <a:ext cx="5448300" cy="16383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FF9AB39-C692-4119-8204-EA52E8776364}"/>
                  </a:ext>
                </a:extLst>
              </p:cNvPr>
              <p:cNvSpPr txBox="1"/>
              <p:nvPr/>
            </p:nvSpPr>
            <p:spPr>
              <a:xfrm>
                <a:off x="6096000" y="1872066"/>
                <a:ext cx="21626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using your calculator.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CC9AE8F-6FAF-9649-6478-032D39998EC0}"/>
                </a:ext>
              </a:extLst>
            </p:cNvPr>
            <p:cNvSpPr txBox="1"/>
            <p:nvPr/>
          </p:nvSpPr>
          <p:spPr>
            <a:xfrm>
              <a:off x="6467350" y="1529215"/>
              <a:ext cx="530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(a)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203A736-7FE7-C35E-409D-AA2745AA9ADB}"/>
                </a:ext>
              </a:extLst>
            </p:cNvPr>
            <p:cNvSpPr txBox="1"/>
            <p:nvPr/>
          </p:nvSpPr>
          <p:spPr>
            <a:xfrm>
              <a:off x="6467350" y="2234528"/>
              <a:ext cx="35381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(b) If Y = 2X – 1, find E(Y) and SD(Y).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1118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1CE5E54-B218-6ED1-4DEE-DB51E5B4631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55441" y="489886"/>
                <a:ext cx="6191677" cy="6073146"/>
              </a:xfrm>
            </p:spPr>
            <p:txBody>
              <a:bodyPr/>
              <a:lstStyle/>
              <a:p>
                <a:pPr marL="152396" indent="0">
                  <a:buNone/>
                </a:pPr>
                <a:r>
                  <a:rPr lang="en-US" sz="2000" dirty="0"/>
                  <a:t>select   </a:t>
                </a:r>
                <a:r>
                  <a:rPr lang="en-US" b="1" u="sng" dirty="0"/>
                  <a:t>Answers</a:t>
                </a:r>
              </a:p>
              <a:p>
                <a:pPr marL="152396" indent="0">
                  <a:buNone/>
                </a:pPr>
                <a:endParaRPr lang="en-US" sz="2000" b="1" u="sng" dirty="0"/>
              </a:p>
              <a:p>
                <a:pPr marL="152396" indent="0">
                  <a:buNone/>
                </a:pPr>
                <a:r>
                  <a:rPr lang="en-US" sz="2000" dirty="0"/>
                  <a:t>2.1-3) a) c = 10</a:t>
                </a:r>
              </a:p>
              <a:p>
                <a:pPr marL="152396" indent="0">
                  <a:buNone/>
                </a:pPr>
                <a:r>
                  <a:rPr lang="en-US" sz="2000" dirty="0"/>
                  <a:t>            b) c = 1/55</a:t>
                </a:r>
              </a:p>
              <a:p>
                <a:pPr marL="152396" indent="0">
                  <a:buNone/>
                </a:pPr>
                <a:r>
                  <a:rPr lang="en-US" sz="2000" dirty="0"/>
                  <a:t>            c) c = 1/30</a:t>
                </a:r>
              </a:p>
              <a:p>
                <a:pPr marL="152396" indent="0">
                  <a:buNone/>
                </a:pPr>
                <a:endParaRPr lang="en-US" sz="2000" dirty="0"/>
              </a:p>
              <a:p>
                <a:pPr marL="152396" indent="0">
                  <a:buNone/>
                </a:pPr>
                <a:r>
                  <a:rPr lang="en-US" sz="2000" dirty="0"/>
                  <a:t>2.1-8) c) P(W &lt; 5) = 10/16</a:t>
                </a:r>
              </a:p>
              <a:p>
                <a:pPr marL="152396" indent="0">
                  <a:buNone/>
                </a:pPr>
                <a:r>
                  <a:rPr lang="en-US" sz="2000" dirty="0"/>
                  <a:t>                P(W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000" dirty="0"/>
                  <a:t> 2) = 12/16</a:t>
                </a:r>
              </a:p>
              <a:p>
                <a:pPr marL="152396" indent="0">
                  <a:buNone/>
                </a:pPr>
                <a:r>
                  <a:rPr lang="en-US" sz="2000" dirty="0"/>
                  <a:t>                P(1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000" dirty="0"/>
                  <a:t> W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000" dirty="0"/>
                  <a:t> 4) = 8/16</a:t>
                </a:r>
              </a:p>
              <a:p>
                <a:pPr marL="152396" indent="0">
                  <a:buNone/>
                </a:pPr>
                <a:endParaRPr lang="en-US" sz="2000" dirty="0"/>
              </a:p>
              <a:p>
                <a:pPr marL="152396" indent="0">
                  <a:buNone/>
                </a:pPr>
                <a:r>
                  <a:rPr lang="en-US" sz="2000" dirty="0"/>
                  <a:t>2.1-12) Prob = 0.4</a:t>
                </a:r>
              </a:p>
              <a:p>
                <a:pPr marL="152396" indent="0">
                  <a:buNone/>
                </a:pPr>
                <a:endParaRPr lang="en-US" sz="2000" dirty="0"/>
              </a:p>
              <a:p>
                <a:pPr marL="152396" indent="0">
                  <a:buNone/>
                </a:pPr>
                <a:r>
                  <a:rPr lang="en-US" sz="2000" dirty="0"/>
                  <a:t>3.1-2) c) m = 0, IQR = 1, E(X) = 0,</a:t>
                </a:r>
              </a:p>
              <a:p>
                <a:pPr marL="152396" indent="0">
                  <a:buNone/>
                </a:pPr>
                <a:r>
                  <a:rPr lang="en-US" sz="2000" dirty="0"/>
                  <a:t>                V(X) = 1/3</a:t>
                </a:r>
              </a:p>
              <a:p>
                <a:pPr marL="152396" indent="0">
                  <a:buNone/>
                </a:pPr>
                <a:r>
                  <a:rPr lang="en-US" sz="2000" dirty="0"/>
                  <a:t>           d) E[-4X(1+X)] = -4/3</a:t>
                </a:r>
              </a:p>
              <a:p>
                <a:pPr marL="152396" indent="0">
                  <a:buNone/>
                </a:pPr>
                <a:endParaRPr lang="en-US" sz="2000" dirty="0"/>
              </a:p>
              <a:p>
                <a:pPr marL="152396" indent="0">
                  <a:buNone/>
                </a:pPr>
                <a:r>
                  <a:rPr lang="en-US" sz="2000" dirty="0"/>
                  <a:t>3.1-16) a) P(X &lt; -0.25) = 9/64</a:t>
                </a:r>
              </a:p>
              <a:p>
                <a:pPr marL="152396" indent="0">
                  <a:buNone/>
                </a:pPr>
                <a:r>
                  <a:rPr lang="en-US" sz="2000" dirty="0"/>
                  <a:t>                   P(X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000" dirty="0"/>
                  <a:t> -0.25) = 55/64</a:t>
                </a:r>
              </a:p>
              <a:p>
                <a:pPr marL="152396" indent="0">
                  <a:buNone/>
                </a:pPr>
                <a:r>
                  <a:rPr lang="en-US" sz="2000" dirty="0"/>
                  <a:t>               b)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0.29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≈0.0770</m:t>
                    </m:r>
                  </m:oMath>
                </a14:m>
                <a:endParaRPr lang="en-US" sz="2000" dirty="0"/>
              </a:p>
              <a:p>
                <a:pPr marL="152396" indent="0">
                  <a:buNone/>
                </a:pPr>
                <a:r>
                  <a:rPr lang="en-US" sz="2000" dirty="0"/>
                  <a:t>               d)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−0.5&lt;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≤0.75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≈0.7031</m:t>
                    </m:r>
                  </m:oMath>
                </a14:m>
                <a:endParaRPr lang="en-US" dirty="0"/>
              </a:p>
              <a:p>
                <a:pPr marL="152396" indent="0">
                  <a:buNone/>
                </a:pPr>
                <a:r>
                  <a:rPr lang="en-US" sz="2000" dirty="0"/>
                  <a:t>                   P(X &gt; 0) = 0.75</a:t>
                </a:r>
              </a:p>
              <a:p>
                <a:pPr marL="152396" indent="0">
                  <a:buNone/>
                </a:pPr>
                <a:r>
                  <a:rPr lang="en-US" sz="2000" dirty="0"/>
                  <a:t>   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1CE5E54-B218-6ED1-4DEE-DB51E5B463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55441" y="489886"/>
                <a:ext cx="6191677" cy="6073146"/>
              </a:xfrm>
              <a:blipFill>
                <a:blip r:embed="rId2"/>
                <a:stretch>
                  <a:fillRect t="-835" b="-6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7088CE6-F964-A2F3-B1D6-6390E3E98B9A}"/>
                  </a:ext>
                </a:extLst>
              </p:cNvPr>
              <p:cNvSpPr txBox="1"/>
              <p:nvPr/>
            </p:nvSpPr>
            <p:spPr>
              <a:xfrm>
                <a:off x="6547118" y="1007830"/>
                <a:ext cx="4841390" cy="61863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52396" indent="0">
                  <a:buNone/>
                </a:pPr>
                <a:endParaRPr lang="en-US" sz="1800" dirty="0"/>
              </a:p>
              <a:p>
                <a:pPr marL="152396" indent="0">
                  <a:buNone/>
                </a:pPr>
                <a:r>
                  <a:rPr lang="en-US" sz="1800" dirty="0"/>
                  <a:t>3.1-7) a) c = 3, F(x) = x</a:t>
                </a:r>
                <a:r>
                  <a:rPr lang="en-US" sz="1800" baseline="30000" dirty="0"/>
                  <a:t>4</a:t>
                </a:r>
                <a:r>
                  <a:rPr lang="en-US" sz="1800" dirty="0"/>
                  <a:t>, E(X) = 4/5, V(X) = 2/75</a:t>
                </a:r>
              </a:p>
              <a:p>
                <a:pPr marL="152396"/>
                <a:r>
                  <a:rPr lang="en-US" sz="1800" dirty="0"/>
                  <a:t>            b) c = 3/16, F(x) = (1/8)x</a:t>
                </a:r>
                <a:r>
                  <a:rPr lang="en-US" baseline="30000" dirty="0"/>
                  <a:t>3/2</a:t>
                </a:r>
                <a:r>
                  <a:rPr lang="en-US" sz="1800" dirty="0"/>
                  <a:t>, E(X) = 12/5,</a:t>
                </a:r>
              </a:p>
              <a:p>
                <a:pPr marL="152396"/>
                <a:r>
                  <a:rPr lang="en-US" dirty="0"/>
                  <a:t>                 </a:t>
                </a:r>
                <a:r>
                  <a:rPr lang="en-US" sz="1800" dirty="0"/>
                  <a:t>V(X) = 192/175</a:t>
                </a:r>
              </a:p>
              <a:p>
                <a:pPr marL="152396" indent="0">
                  <a:buNone/>
                </a:pPr>
                <a:endParaRPr lang="en-US" sz="1800" dirty="0"/>
              </a:p>
              <a:p>
                <a:pPr marL="152396" indent="0">
                  <a:buNone/>
                </a:pPr>
                <a:r>
                  <a:rPr lang="en-US" sz="1800" dirty="0"/>
                  <a:t>2.2-2) E(X) = 0, E(X</a:t>
                </a:r>
                <a:r>
                  <a:rPr lang="en-US" sz="1800" baseline="30000" dirty="0"/>
                  <a:t>2</a:t>
                </a:r>
                <a:r>
                  <a:rPr lang="en-US" sz="1800" dirty="0"/>
                  <a:t>) = 8/9, E(3X</a:t>
                </a:r>
                <a:r>
                  <a:rPr lang="en-US" sz="1800" baseline="30000" dirty="0"/>
                  <a:t>2 </a:t>
                </a:r>
                <a:r>
                  <a:rPr lang="en-US" sz="1800" dirty="0"/>
                  <a:t>-2X + 4) = 20/3,</a:t>
                </a:r>
              </a:p>
              <a:p>
                <a:pPr marL="152396" indent="0">
                  <a:buNone/>
                </a:pPr>
                <a:r>
                  <a:rPr lang="en-US" dirty="0"/>
                  <a:t>           </a:t>
                </a:r>
                <a:r>
                  <a:rPr lang="en-US" sz="1800" dirty="0"/>
                  <a:t>V(X) = 8/9 </a:t>
                </a:r>
              </a:p>
              <a:p>
                <a:pPr marL="152396" indent="0">
                  <a:buNone/>
                </a:pPr>
                <a:endParaRPr lang="en-US" sz="1800" dirty="0"/>
              </a:p>
              <a:p>
                <a:pPr marL="152396" indent="0">
                  <a:buNone/>
                </a:pPr>
                <a:r>
                  <a:rPr lang="en-US" sz="1800" dirty="0"/>
                  <a:t>2.3-3) a) V(X+4) = 16</a:t>
                </a:r>
              </a:p>
              <a:p>
                <a:pPr marL="152396" indent="0">
                  <a:buNone/>
                </a:pPr>
                <a:r>
                  <a:rPr lang="en-US" dirty="0"/>
                  <a:t>           b)</a:t>
                </a:r>
                <a:r>
                  <a:rPr lang="en-US" sz="1800" dirty="0"/>
                  <a:t> E(X) = 6</a:t>
                </a:r>
              </a:p>
              <a:p>
                <a:pPr marL="152396" indent="0">
                  <a:buNone/>
                </a:pPr>
                <a:r>
                  <a:rPr lang="en-US" dirty="0"/>
                  <a:t>           c) </a:t>
                </a:r>
                <a:r>
                  <a:rPr lang="en-US" sz="1800" dirty="0"/>
                  <a:t>V(X) = 16</a:t>
                </a:r>
                <a:br>
                  <a:rPr lang="en-US" sz="1800" dirty="0"/>
                </a:br>
                <a:endParaRPr lang="en-US" sz="1800" dirty="0"/>
              </a:p>
              <a:p>
                <a:pPr marL="152396" indent="0">
                  <a:buNone/>
                </a:pPr>
                <a:r>
                  <a:rPr lang="en-US" sz="1800" dirty="0"/>
                  <a:t>2.3-8) </a:t>
                </a:r>
                <a:r>
                  <a:rPr lang="en-US" dirty="0"/>
                  <a:t>(a) </a:t>
                </a:r>
                <a:r>
                  <a:rPr lang="en-US" sz="1800" dirty="0"/>
                  <a:t>E(X) = 3.125, V(X)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1800" dirty="0"/>
                  <a:t> 55/64,</a:t>
                </a:r>
              </a:p>
              <a:p>
                <a:pPr marL="152396" indent="0">
                  <a:buNone/>
                </a:pPr>
                <a:r>
                  <a:rPr lang="en-US" dirty="0"/>
                  <a:t>                  </a:t>
                </a:r>
                <a:r>
                  <a:rPr lang="en-US" sz="1800" dirty="0"/>
                  <a:t>SD(X)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1800" dirty="0"/>
                  <a:t> 0.927</a:t>
                </a:r>
              </a:p>
              <a:p>
                <a:pPr marL="152396" indent="0">
                  <a:buNone/>
                </a:pPr>
                <a:r>
                  <a:rPr lang="en-US" dirty="0"/>
                  <a:t>            (b) E(Y) =5.25, SD(Y)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1800" dirty="0"/>
                  <a:t> 1.854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7088CE6-F964-A2F3-B1D6-6390E3E98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7118" y="1007830"/>
                <a:ext cx="4841390" cy="6186309"/>
              </a:xfrm>
              <a:prstGeom prst="rect">
                <a:avLst/>
              </a:prstGeom>
              <a:blipFill>
                <a:blip r:embed="rId3"/>
                <a:stretch>
                  <a:fillRect r="-2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0250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493</Words>
  <Application>Microsoft Macintosh PowerPoint</Application>
  <PresentationFormat>Widescreen</PresentationFormat>
  <Paragraphs>59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Gearhart, Colton Mr.</dc:creator>
  <cp:lastModifiedBy>Colton Gearhart</cp:lastModifiedBy>
  <cp:revision>42</cp:revision>
  <dcterms:created xsi:type="dcterms:W3CDTF">2022-11-09T01:27:32Z</dcterms:created>
  <dcterms:modified xsi:type="dcterms:W3CDTF">2023-10-19T16:23:05Z</dcterms:modified>
</cp:coreProperties>
</file>