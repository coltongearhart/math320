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411" r:id="rId2"/>
    <p:sldId id="262" r:id="rId3"/>
    <p:sldId id="410" r:id="rId4"/>
    <p:sldId id="41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5707"/>
  </p:normalViewPr>
  <p:slideViewPr>
    <p:cSldViewPr snapToGrid="0">
      <p:cViewPr varScale="1">
        <p:scale>
          <a:sx n="125" d="100"/>
          <a:sy n="125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8T15:02:41.7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7 24575,'-6'-4'0,"1"2"0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A486E-77D8-8E45-B782-DCB14EA2A774}" type="datetimeFigureOut">
              <a:rPr lang="en-US" smtClean="0"/>
              <a:t>11/7/23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332E5-5CC8-9C4B-8D43-75CC7B0B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79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299ed75ad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4299ed75ad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299ed75ad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4299ed75ad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9036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F432-CA97-29F4-DC8C-40021CD19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5F039-71B3-9040-871B-2DB8940A9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F41F7-0B44-1046-371E-8213178F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A9066-5AC5-0500-CF46-B733D87A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1C19-EF47-BD12-4412-896201EF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7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932F0-17E4-A7FD-8081-2A679741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9C282-C52B-A1A4-E4BC-CFC2F9F00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46B3-EBBB-8919-0A89-CD857C41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0E43E-11F9-F9E2-62B2-D2247E63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BE289-1C38-6976-4F51-168887AA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8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68F0-5117-E5F4-498B-3BC2B9E6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D687-23AB-761D-10C4-9249CCFB8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7FD43-1D31-C1CB-ECF1-0CF23716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3E1E2-02A1-B1A8-19C7-E2DA246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FD2D7-2651-AFCE-E705-6CC1F3396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E013-4C4F-9612-F731-4825D3A8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0418C-43B8-F685-F967-D7AC42E9B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14C03-C619-3970-5716-A16278B64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ED839-EA64-8AD5-15AA-69FBD2BA2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FD805-85BC-062B-39E9-E07B70CA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ABD6A-ACA1-0705-2066-CC2D82015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0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716A-17B3-6F85-26BF-47A859B3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68BE5-F76B-EE2A-02BE-8266E51E6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732A9-0020-0698-B373-100A9A71B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0572C-F535-CE34-B0FF-8B50B11D9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C7033-3373-A905-02BA-615CBE899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114ABC-2BD1-5D80-3FB4-314EBAE2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91479A-F497-CF40-72B7-456A4EB4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65D80-84A5-F7EF-D758-A07F2250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9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C9ED-DDB3-6740-E885-95929519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15F18-289D-6A87-120A-FED383D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5A11A-DC6B-A4B1-F9EC-7ABFFABC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5C54D-086D-8F1C-68E5-E7A3C655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07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A61E3-A173-CA03-272F-BD70EDA4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CE963-9B32-112B-DF21-3883B6DE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7F783-0CA4-435E-6661-904592069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9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258B-2CEF-159C-00F5-D62D4527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83C09-00DF-BA04-9D4B-4C754D78C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62F0E-2583-10C0-7F18-56E218345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4393A-0258-5D8F-FC63-D9CA9553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4638F-D182-FC05-0C92-E7F3D96C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D9B03-0D3A-8165-8162-88F5C3BE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4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FCFC-8CEF-ACF4-922F-48C4A683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92A8B-F459-3BDA-1763-122E856875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C5B04-5365-81BE-12AA-FE18F5FF3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EDEBF-36DC-D0F5-AC1C-A71056B1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E4FC8-059E-72AC-41C4-DA1D3280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BABFF-03B1-FD42-C6E8-90A1636F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B506-952A-FFF5-03EA-138D53B7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0C968-8F0F-4CC6-68AA-9FF794ACB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6C730-1B8A-67A4-4049-0A98B44B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A2178-F38B-EE80-521A-BAAAD2CA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49FA3-3E6F-5A57-E62F-BF2242B7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46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CDE77-4494-0239-5824-C57AF23F9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2E670-EF7E-E71C-E352-C2DC028DA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DCF35-80B2-47B5-5EE7-0AD5309F7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A728D-D754-751D-04E2-CE87003A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1EA90-5423-DA02-9E35-E9D6BBC2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40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9745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B7133-CBC8-8C79-54AB-2B6D68D4F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27B57-C403-2F05-1E03-EE7227E70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EF81D-EE00-AACE-CFEB-F4803AFFB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AE08B-FC62-A14A-A283-DE322E7D125E}" type="datetimeFigureOut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F08ED-917A-87F0-2775-A929F781C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7DB4D-F222-1DD2-74AC-7AA67ECAC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0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customXml" Target="../ink/ink1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30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0A77EE8D-834F-9CCC-A5E3-612AEE9E91C9}"/>
              </a:ext>
            </a:extLst>
          </p:cNvPr>
          <p:cNvSpPr/>
          <p:nvPr/>
        </p:nvSpPr>
        <p:spPr>
          <a:xfrm>
            <a:off x="8689131" y="1115829"/>
            <a:ext cx="1209654" cy="26416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0E6CC0E-739C-2104-7606-7B41554819AE}"/>
              </a:ext>
            </a:extLst>
          </p:cNvPr>
          <p:cNvSpPr/>
          <p:nvPr/>
        </p:nvSpPr>
        <p:spPr>
          <a:xfrm>
            <a:off x="6758729" y="1980111"/>
            <a:ext cx="3140053" cy="26416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38870C3-BE1F-9188-69A8-4CC2C1E70F56}"/>
              </a:ext>
            </a:extLst>
          </p:cNvPr>
          <p:cNvGrpSpPr/>
          <p:nvPr/>
        </p:nvGrpSpPr>
        <p:grpSpPr>
          <a:xfrm>
            <a:off x="3863131" y="1115829"/>
            <a:ext cx="6035654" cy="264160"/>
            <a:chOff x="2286000" y="1107440"/>
            <a:chExt cx="6035654" cy="26416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3AEAA52A-7630-160F-8B21-60A7B04697A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0" y="1239520"/>
              <a:ext cx="60356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5AC05B2-D58F-696A-63C5-A1B284EE6E37}"/>
                </a:ext>
              </a:extLst>
            </p:cNvPr>
            <p:cNvGrpSpPr/>
            <p:nvPr/>
          </p:nvGrpSpPr>
          <p:grpSpPr>
            <a:xfrm>
              <a:off x="2286000" y="1107440"/>
              <a:ext cx="5791200" cy="264160"/>
              <a:chOff x="2286000" y="1107440"/>
              <a:chExt cx="5791200" cy="264160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87780570-7E4F-DD0B-D748-368A860501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0" y="1107440"/>
                <a:ext cx="0" cy="26416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16DF46B1-31AE-357A-0137-106EA22B51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6400" y="1107440"/>
                <a:ext cx="0" cy="26416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F410CE9A-ABBD-43BB-EA2B-51411475D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6800" y="1107440"/>
                <a:ext cx="0" cy="26416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396031A-AB8B-0971-6E31-E0FFB3494B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600" y="1107440"/>
                <a:ext cx="0" cy="26416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FF2BDA45-1FBE-D771-D5AF-CDDF9DD345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7200" y="1107440"/>
                <a:ext cx="0" cy="26416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31E2F8B-DEE2-1DE4-E3C8-C2C7D794D5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1200" y="1107440"/>
                <a:ext cx="0" cy="26416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5CE9600-464E-4155-E333-0124D9C4A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12000" y="1107440"/>
                <a:ext cx="0" cy="26416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98BC209-D5EB-B0EF-83D4-56DDA671F6CD}"/>
              </a:ext>
            </a:extLst>
          </p:cNvPr>
          <p:cNvGrpSpPr/>
          <p:nvPr/>
        </p:nvGrpSpPr>
        <p:grpSpPr>
          <a:xfrm>
            <a:off x="3863131" y="1980111"/>
            <a:ext cx="6035654" cy="264160"/>
            <a:chOff x="2286000" y="1107440"/>
            <a:chExt cx="6035654" cy="26416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99351B0-BE83-2630-8212-9AE022D8EAAC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0" y="1239520"/>
              <a:ext cx="603565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F82DF20-0289-DECB-1EF0-8AC03121BBB6}"/>
                </a:ext>
              </a:extLst>
            </p:cNvPr>
            <p:cNvGrpSpPr/>
            <p:nvPr/>
          </p:nvGrpSpPr>
          <p:grpSpPr>
            <a:xfrm>
              <a:off x="2286000" y="1107440"/>
              <a:ext cx="5791200" cy="264160"/>
              <a:chOff x="2286000" y="1107440"/>
              <a:chExt cx="5791200" cy="26416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EE5857C-F9E0-AA3C-769E-61FD0B4701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0" y="1107440"/>
                <a:ext cx="0" cy="26416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564DE70-A194-828E-43CF-C419A8467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6400" y="1107440"/>
                <a:ext cx="0" cy="26416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ECDE820-22E5-E966-72A3-31738889D0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6800" y="1107440"/>
                <a:ext cx="0" cy="26416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6928335-F519-AEB9-AB7B-AEB2B30BB6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1600" y="1107440"/>
                <a:ext cx="0" cy="26416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DCD6279-D20E-D004-FCED-EC5E17EA04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7200" y="1107440"/>
                <a:ext cx="0" cy="26416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F116449-220B-27D9-473D-868B5E9BF3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1200" y="1107440"/>
                <a:ext cx="0" cy="26416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C5E07F1-98EF-3CE9-8656-E244F24A6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12000" y="1107440"/>
                <a:ext cx="0" cy="26416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EE83BB3-5E21-7B6F-117B-FAB0D3CBA5D5}"/>
                  </a:ext>
                </a:extLst>
              </p:cNvPr>
              <p:cNvSpPr txBox="1"/>
              <p:nvPr/>
            </p:nvSpPr>
            <p:spPr>
              <a:xfrm>
                <a:off x="4130087" y="758745"/>
                <a:ext cx="149540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Given survived to </a:t>
                </a:r>
                <a14:m>
                  <m:oMath xmlns:m="http://schemas.openxmlformats.org/officeDocument/2006/math"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EE83BB3-5E21-7B6F-117B-FAB0D3CBA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087" y="758745"/>
                <a:ext cx="1495409" cy="253916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F04409F-5B40-2685-DC47-8B4F54FB8A4A}"/>
                  </a:ext>
                </a:extLst>
              </p:cNvPr>
              <p:cNvSpPr txBox="1"/>
              <p:nvPr/>
            </p:nvSpPr>
            <p:spPr>
              <a:xfrm>
                <a:off x="7723931" y="736729"/>
                <a:ext cx="1934953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Probability survive to </a:t>
                </a:r>
                <a14:m>
                  <m:oMath xmlns:m="http://schemas.openxmlformats.org/officeDocument/2006/math"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F04409F-5B40-2685-DC47-8B4F54FB8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931" y="736729"/>
                <a:ext cx="1934953" cy="25391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E8D21D9-4D8F-250B-56A7-F96BF79D4359}"/>
                  </a:ext>
                </a:extLst>
              </p:cNvPr>
              <p:cNvSpPr txBox="1"/>
              <p:nvPr/>
            </p:nvSpPr>
            <p:spPr>
              <a:xfrm>
                <a:off x="1157550" y="499443"/>
                <a:ext cx="22989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Example: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E8D21D9-4D8F-250B-56A7-F96BF79D4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550" y="499443"/>
                <a:ext cx="2298963" cy="276999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12A10DE-9E76-1680-9993-51C76EE3764C}"/>
                  </a:ext>
                </a:extLst>
              </p:cNvPr>
              <p:cNvSpPr txBox="1"/>
              <p:nvPr/>
            </p:nvSpPr>
            <p:spPr>
              <a:xfrm>
                <a:off x="1057716" y="1012661"/>
                <a:ext cx="23228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&gt;2+3∣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12A10DE-9E76-1680-9993-51C76EE37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716" y="1012661"/>
                <a:ext cx="2322815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FC6C9DA-BEA2-CE45-F0EF-D758E7B5218C}"/>
                  </a:ext>
                </a:extLst>
              </p:cNvPr>
              <p:cNvSpPr txBox="1"/>
              <p:nvPr/>
            </p:nvSpPr>
            <p:spPr>
              <a:xfrm>
                <a:off x="1747168" y="1927525"/>
                <a:ext cx="11507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&gt;3)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FC6C9DA-BEA2-CE45-F0EF-D758E7B52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168" y="1927525"/>
                <a:ext cx="1150764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93D043C-4A6D-9648-EF43-F746671A021E}"/>
              </a:ext>
            </a:extLst>
          </p:cNvPr>
          <p:cNvCxnSpPr/>
          <p:nvPr/>
        </p:nvCxnSpPr>
        <p:spPr>
          <a:xfrm>
            <a:off x="3970342" y="1018643"/>
            <a:ext cx="17159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70676C9-6422-E27B-2592-AED1D53D7188}"/>
              </a:ext>
            </a:extLst>
          </p:cNvPr>
          <p:cNvCxnSpPr>
            <a:cxnSpLocks/>
          </p:cNvCxnSpPr>
          <p:nvPr/>
        </p:nvCxnSpPr>
        <p:spPr>
          <a:xfrm flipH="1">
            <a:off x="3863131" y="1392049"/>
            <a:ext cx="1823188" cy="535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6AF84F5-F2E3-CC33-41A9-DE4A7054E737}"/>
              </a:ext>
            </a:extLst>
          </p:cNvPr>
          <p:cNvCxnSpPr>
            <a:cxnSpLocks/>
          </p:cNvCxnSpPr>
          <p:nvPr/>
        </p:nvCxnSpPr>
        <p:spPr>
          <a:xfrm flipH="1">
            <a:off x="6812337" y="1379989"/>
            <a:ext cx="1823188" cy="535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366B6A38-F4F8-59A8-7597-0BC80141FED5}"/>
              </a:ext>
            </a:extLst>
          </p:cNvPr>
          <p:cNvSpPr/>
          <p:nvPr/>
        </p:nvSpPr>
        <p:spPr>
          <a:xfrm>
            <a:off x="5652008" y="1083506"/>
            <a:ext cx="283046" cy="3288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BAB9F75-7F0F-1AE7-1276-03BAF843A673}"/>
                  </a:ext>
                </a:extLst>
              </p:cNvPr>
              <p:cNvSpPr txBox="1"/>
              <p:nvPr/>
            </p:nvSpPr>
            <p:spPr>
              <a:xfrm>
                <a:off x="5501415" y="1395863"/>
                <a:ext cx="59458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BAB9F75-7F0F-1AE7-1276-03BAF843A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415" y="1395863"/>
                <a:ext cx="594585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>
            <a:extLst>
              <a:ext uri="{FF2B5EF4-FFF2-40B4-BE49-F238E27FC236}">
                <a16:creationId xmlns:a16="http://schemas.microsoft.com/office/drawing/2014/main" id="{97658FE5-41A4-45A9-BFD8-90751EFF72E0}"/>
              </a:ext>
            </a:extLst>
          </p:cNvPr>
          <p:cNvSpPr/>
          <p:nvPr/>
        </p:nvSpPr>
        <p:spPr>
          <a:xfrm>
            <a:off x="3721608" y="1970775"/>
            <a:ext cx="283046" cy="3288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90EED9F-1B13-4287-D117-D799BBC8C6D0}"/>
                  </a:ext>
                </a:extLst>
              </p:cNvPr>
              <p:cNvSpPr txBox="1"/>
              <p:nvPr/>
            </p:nvSpPr>
            <p:spPr>
              <a:xfrm>
                <a:off x="8391837" y="1455478"/>
                <a:ext cx="8651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90EED9F-1B13-4287-D117-D799BBC8C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837" y="1455478"/>
                <a:ext cx="865109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BA23355-BBCD-CF27-7E1F-6FE40FAFF8B3}"/>
                  </a:ext>
                </a:extLst>
              </p:cNvPr>
              <p:cNvSpPr txBox="1"/>
              <p:nvPr/>
            </p:nvSpPr>
            <p:spPr>
              <a:xfrm>
                <a:off x="6461436" y="2353405"/>
                <a:ext cx="5925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BA23355-BBCD-CF27-7E1F-6FE40FAFF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436" y="2353405"/>
                <a:ext cx="59259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027F934-B930-908B-48E1-587F9595CB23}"/>
                  </a:ext>
                </a:extLst>
              </p:cNvPr>
              <p:cNvSpPr txBox="1"/>
              <p:nvPr/>
            </p:nvSpPr>
            <p:spPr>
              <a:xfrm>
                <a:off x="4096385" y="2503446"/>
                <a:ext cx="166661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Survive to </a:t>
                </a:r>
                <a14:m>
                  <m:oMath xmlns:m="http://schemas.openxmlformats.org/officeDocument/2006/math"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050" dirty="0"/>
                  <a:t> from start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027F934-B930-908B-48E1-587F9595C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385" y="2503446"/>
                <a:ext cx="1666610" cy="253916"/>
              </a:xfrm>
              <a:prstGeom prst="rect">
                <a:avLst/>
              </a:prstGeom>
              <a:blipFill>
                <a:blip r:embed="rId1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33B3F91-4B87-4185-19CD-6779BB4B54EE}"/>
                  </a:ext>
                </a:extLst>
              </p:cNvPr>
              <p:cNvSpPr txBox="1"/>
              <p:nvPr/>
            </p:nvSpPr>
            <p:spPr>
              <a:xfrm>
                <a:off x="9007170" y="1650305"/>
                <a:ext cx="150874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1050" dirty="0"/>
                  <a:t> shifting starting point</a:t>
                </a: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33B3F91-4B87-4185-19CD-6779BB4B5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7170" y="1650305"/>
                <a:ext cx="1508746" cy="253916"/>
              </a:xfrm>
              <a:prstGeom prst="rect">
                <a:avLst/>
              </a:prstGeom>
              <a:blipFill>
                <a:blip r:embed="rId11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047E7FD3-8200-F64E-7E70-C9F1BF62B030}"/>
              </a:ext>
            </a:extLst>
          </p:cNvPr>
          <p:cNvSpPr txBox="1"/>
          <p:nvPr/>
        </p:nvSpPr>
        <p:spPr>
          <a:xfrm>
            <a:off x="3721608" y="234574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A914D77-4C69-973A-490A-F0C9CF4A1CEB}"/>
              </a:ext>
            </a:extLst>
          </p:cNvPr>
          <p:cNvSpPr txBox="1"/>
          <p:nvPr/>
        </p:nvSpPr>
        <p:spPr>
          <a:xfrm>
            <a:off x="3741440" y="139586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16599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5"/>
          <p:cNvSpPr txBox="1">
            <a:spLocks noGrp="1"/>
          </p:cNvSpPr>
          <p:nvPr>
            <p:ph type="body" idx="1"/>
          </p:nvPr>
        </p:nvSpPr>
        <p:spPr>
          <a:xfrm>
            <a:off x="429285" y="10511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sz="1600" u="sng" dirty="0"/>
              <a:t>Finding Probabilities</a:t>
            </a:r>
            <a:endParaRPr sz="1600" u="sng" dirty="0"/>
          </a:p>
          <a:p>
            <a:pPr marL="152396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1. Choose correct Dist: 2ND </a:t>
            </a:r>
            <a:r>
              <a:rPr lang="en" sz="1600" dirty="0"/>
              <a:t>→ VARS</a:t>
            </a:r>
            <a:endParaRPr lang="en-US" sz="16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ALWAYS want </a:t>
            </a:r>
            <a:r>
              <a:rPr lang="en-US" sz="1600" b="1" dirty="0"/>
              <a:t>normalcdf()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2. Enter in information (endpoints and parameters)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lower = lower boundary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upper = upper boundary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μ = Mean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𝞂 = SD</a:t>
            </a:r>
          </a:p>
          <a:p>
            <a:pPr marL="152396" indent="0">
              <a:lnSpc>
                <a:spcPct val="100000"/>
              </a:lnSpc>
              <a:buNone/>
            </a:pPr>
            <a:r>
              <a:rPr lang="en-US" sz="1600" dirty="0"/>
              <a:t>  - If you have TI-83, you would type normalcdf(lower, upper, mean, sd)</a:t>
            </a:r>
          </a:p>
          <a:p>
            <a:pPr marL="152396" indent="0">
              <a:lnSpc>
                <a:spcPct val="100000"/>
              </a:lnSpc>
              <a:buNone/>
            </a:pPr>
            <a:endParaRPr lang="en-US" sz="1600" dirty="0"/>
          </a:p>
          <a:p>
            <a:pPr marL="152396" indent="0">
              <a:lnSpc>
                <a:spcPct val="100000"/>
              </a:lnSpc>
              <a:buNone/>
            </a:pPr>
            <a:r>
              <a:rPr lang="en-US" sz="1600" dirty="0"/>
              <a:t>*** </a:t>
            </a:r>
            <a:r>
              <a:rPr lang="en-US" sz="1600" u="sng" dirty="0"/>
              <a:t>Special Cases</a:t>
            </a:r>
          </a:p>
          <a:p>
            <a:pPr marL="152396" indent="0">
              <a:lnSpc>
                <a:spcPct val="100000"/>
              </a:lnSpc>
              <a:buNone/>
            </a:pPr>
            <a:r>
              <a:rPr lang="en-US" sz="1600" dirty="0"/>
              <a:t>If finding a left tailed probability, enter lower = -10000 (some really big negative number)</a:t>
            </a:r>
          </a:p>
          <a:p>
            <a:pPr marL="152396" indent="0">
              <a:lnSpc>
                <a:spcPct val="100000"/>
              </a:lnSpc>
              <a:buNone/>
            </a:pPr>
            <a:r>
              <a:rPr lang="en-US" sz="1600" dirty="0"/>
              <a:t>If finding a right tailed probability, enter upper = 10000 or 10^6 (really big positive number)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5F258-6D0B-F14B-8EBB-1EBC60964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52" y="4813460"/>
            <a:ext cx="3627941" cy="1168400"/>
          </a:xfrm>
          <a:prstGeom prst="rect">
            <a:avLst/>
          </a:prstGeom>
        </p:spPr>
      </p:pic>
      <p:pic>
        <p:nvPicPr>
          <p:cNvPr id="4098" name="Picture 2" descr="Using the Normal Distribution – Introductory Business Statistics">
            <a:extLst>
              <a:ext uri="{FF2B5EF4-FFF2-40B4-BE49-F238E27FC236}">
                <a16:creationId xmlns:a16="http://schemas.microsoft.com/office/drawing/2014/main" id="{4DCECECC-ECB1-6A44-8F1D-A24CF1ED2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10" y="1629344"/>
            <a:ext cx="2864252" cy="169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343FD11-BF10-6739-32CD-91C7895E7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907" y="1320928"/>
            <a:ext cx="1549400" cy="1168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2B65EA2-6838-88AC-472E-2EF1EC99236A}"/>
                  </a:ext>
                </a:extLst>
              </p:cNvPr>
              <p:cNvSpPr txBox="1"/>
              <p:nvPr/>
            </p:nvSpPr>
            <p:spPr>
              <a:xfrm>
                <a:off x="8732737" y="2652679"/>
                <a:ext cx="30299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Ex) If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=40, 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=5</m:t>
                        </m:r>
                      </m:e>
                    </m:d>
                  </m:oMath>
                </a14:m>
                <a:r>
                  <a:rPr lang="en-US" sz="1400" dirty="0"/>
                  <a:t>,</a:t>
                </a:r>
              </a:p>
              <a:p>
                <a:r>
                  <a:rPr lang="en-US" sz="1400" dirty="0"/>
                  <a:t>      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26 &lt; </m:t>
                        </m:r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 &lt; 39</m:t>
                        </m:r>
                      </m:e>
                    </m:d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2B65EA2-6838-88AC-472E-2EF1EC992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737" y="2652679"/>
                <a:ext cx="3029978" cy="523220"/>
              </a:xfrm>
              <a:prstGeom prst="rect">
                <a:avLst/>
              </a:prstGeom>
              <a:blipFill>
                <a:blip r:embed="rId6"/>
                <a:stretch>
                  <a:fillRect l="-833" t="-2326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B409ED0F-94C9-9CDB-FE10-87469F4EE5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0663" y="3289690"/>
            <a:ext cx="1549400" cy="1168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CBB8026-084E-3E65-37E9-941E990C97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1978" y="3289690"/>
            <a:ext cx="1549400" cy="116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5"/>
          <p:cNvSpPr txBox="1">
            <a:spLocks noGrp="1"/>
          </p:cNvSpPr>
          <p:nvPr>
            <p:ph type="body" idx="1"/>
          </p:nvPr>
        </p:nvSpPr>
        <p:spPr>
          <a:xfrm>
            <a:off x="429285" y="10511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u="sng" dirty="0"/>
              <a:t>Finding Percentiles</a:t>
            </a:r>
            <a:endParaRPr lang="en-US" sz="1600" dirty="0"/>
          </a:p>
          <a:p>
            <a:pPr marL="152396" indent="0">
              <a:lnSpc>
                <a:spcPct val="100000"/>
              </a:lnSpc>
              <a:buNone/>
            </a:pPr>
            <a:endParaRPr lang="en-US" sz="16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Choose invNorm(): 2</a:t>
            </a:r>
            <a:r>
              <a:rPr lang="en-US" sz="1800" baseline="30000" dirty="0"/>
              <a:t>ND</a:t>
            </a:r>
            <a:r>
              <a:rPr lang="en-US" sz="1800" dirty="0"/>
              <a:t> → VARS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Enter in information (area and parameters)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area = Probability (LEFT, percentile!)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μ = Mean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𝞂 = SD</a:t>
            </a:r>
          </a:p>
          <a:p>
            <a:pPr marL="152396" indent="0">
              <a:lnSpc>
                <a:spcPct val="100000"/>
              </a:lnSpc>
              <a:buNone/>
            </a:pPr>
            <a:endParaRPr lang="en-US" sz="1600" dirty="0"/>
          </a:p>
          <a:p>
            <a:pPr marL="152396" indent="0">
              <a:lnSpc>
                <a:spcPct val="100000"/>
              </a:lnSpc>
              <a:buNone/>
            </a:pPr>
            <a:r>
              <a:rPr lang="en-US" sz="1600" dirty="0"/>
              <a:t>If you have TI-83, you would type invNorm(area,mean,sd)</a:t>
            </a:r>
          </a:p>
          <a:p>
            <a:pPr marL="152396" indent="0">
              <a:lnSpc>
                <a:spcPct val="100000"/>
              </a:lnSpc>
              <a:buNone/>
            </a:pPr>
            <a:endParaRPr lang="en-US" sz="1600" dirty="0"/>
          </a:p>
          <a:p>
            <a:pPr marL="152396" indent="0">
              <a:lnSpc>
                <a:spcPct val="100000"/>
              </a:lnSpc>
              <a:buNone/>
            </a:pPr>
            <a:r>
              <a:rPr lang="en-US" sz="1600" dirty="0"/>
              <a:t>*** If you have a right tail (upper probability), you need to rewrite as probability to the left!</a:t>
            </a:r>
          </a:p>
          <a:p>
            <a:pPr marL="495296" indent="-342900">
              <a:lnSpc>
                <a:spcPct val="100000"/>
              </a:lnSpc>
              <a:buFont typeface="+mj-lt"/>
              <a:buAutoNum type="alphaLcParenR"/>
            </a:pPr>
            <a:endParaRPr lang="en-US" sz="1600" dirty="0"/>
          </a:p>
          <a:p>
            <a:pPr marL="152396" indent="0">
              <a:lnSpc>
                <a:spcPct val="100000"/>
              </a:lnSpc>
              <a:buNone/>
            </a:pPr>
            <a:endParaRPr lang="en-US" sz="1600" dirty="0"/>
          </a:p>
          <a:p>
            <a:pPr marL="152396" indent="0">
              <a:lnSpc>
                <a:spcPct val="100000"/>
              </a:lnSpc>
              <a:buNone/>
            </a:pPr>
            <a:endParaRPr lang="en-US" sz="1600" dirty="0"/>
          </a:p>
          <a:p>
            <a:pPr marL="152396" indent="0">
              <a:lnSpc>
                <a:spcPct val="100000"/>
              </a:lnSpc>
              <a:buNone/>
            </a:pPr>
            <a:endParaRPr lang="en-US" sz="1600" dirty="0"/>
          </a:p>
          <a:p>
            <a:pPr marL="152396" indent="0">
              <a:lnSpc>
                <a:spcPct val="100000"/>
              </a:lnSpc>
              <a:buNone/>
            </a:pPr>
            <a:endParaRPr sz="1600" dirty="0"/>
          </a:p>
          <a:p>
            <a:pPr marL="0" indent="0">
              <a:lnSpc>
                <a:spcPct val="100000"/>
              </a:lnSpc>
              <a:spcAft>
                <a:spcPts val="2133"/>
              </a:spcAft>
              <a:buNone/>
            </a:pPr>
            <a:endParaRPr sz="1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FB135C-EB8D-6EFD-919A-BE91C74D231D}"/>
              </a:ext>
            </a:extLst>
          </p:cNvPr>
          <p:cNvGrpSpPr/>
          <p:nvPr/>
        </p:nvGrpSpPr>
        <p:grpSpPr>
          <a:xfrm>
            <a:off x="6433229" y="2425267"/>
            <a:ext cx="5123010" cy="1168400"/>
            <a:chOff x="6519327" y="2233036"/>
            <a:chExt cx="5123010" cy="11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D078E83-4653-3761-DEC6-9B12F2C5DCE3}"/>
                    </a:ext>
                  </a:extLst>
                </p14:cNvPr>
                <p14:cNvContentPartPr/>
                <p14:nvPr/>
              </p14:nvContentPartPr>
              <p14:xfrm>
                <a:off x="6519327" y="2693865"/>
                <a:ext cx="4047" cy="2743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D078E83-4653-3761-DEC6-9B12F2C5DCE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10896" y="2684069"/>
                  <a:ext cx="20572" cy="21944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2D9147-519C-3979-9BEA-8C7BCD5117FC}"/>
                </a:ext>
              </a:extLst>
            </p:cNvPr>
            <p:cNvGrpSpPr/>
            <p:nvPr/>
          </p:nvGrpSpPr>
          <p:grpSpPr>
            <a:xfrm>
              <a:off x="8411929" y="2233036"/>
              <a:ext cx="3230408" cy="1168400"/>
              <a:chOff x="8458200" y="2717799"/>
              <a:chExt cx="3230408" cy="116840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77C958A-537C-94AE-123E-D9F37B29E7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58200" y="2717799"/>
                <a:ext cx="1549400" cy="11684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498E7C9-644C-1E1C-5BAA-78BB5ED6D4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39208" y="2717799"/>
                <a:ext cx="1549400" cy="1168400"/>
              </a:xfrm>
              <a:prstGeom prst="rect">
                <a:avLst/>
              </a:prstGeom>
            </p:spPr>
          </p:pic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BD1B93F-2673-E738-1392-2BBF1F42C16B}"/>
              </a:ext>
            </a:extLst>
          </p:cNvPr>
          <p:cNvGrpSpPr/>
          <p:nvPr/>
        </p:nvGrpSpPr>
        <p:grpSpPr>
          <a:xfrm>
            <a:off x="5119578" y="1016581"/>
            <a:ext cx="3263418" cy="1408686"/>
            <a:chOff x="2293251" y="4226820"/>
            <a:chExt cx="3263418" cy="1408686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C24A1E71-CFCC-F4BB-C197-214A4E72FE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9157"/>
            <a:stretch/>
          </p:blipFill>
          <p:spPr>
            <a:xfrm>
              <a:off x="2737269" y="4226820"/>
              <a:ext cx="2819400" cy="1188328"/>
            </a:xfrm>
            <a:prstGeom prst="rect">
              <a:avLst/>
            </a:prstGeom>
          </p:spPr>
        </p:pic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A5B3E94-A8E3-8BEA-7DC2-72EFABFE679D}"/>
                </a:ext>
              </a:extLst>
            </p:cNvPr>
            <p:cNvCxnSpPr/>
            <p:nvPr/>
          </p:nvCxnSpPr>
          <p:spPr>
            <a:xfrm>
              <a:off x="3139314" y="4782603"/>
              <a:ext cx="383312" cy="3486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7D23278-14E1-8068-8AE5-17F099410024}"/>
                    </a:ext>
                  </a:extLst>
                </p:cNvPr>
                <p:cNvSpPr txBox="1"/>
                <p:nvPr/>
              </p:nvSpPr>
              <p:spPr>
                <a:xfrm>
                  <a:off x="2293251" y="4501969"/>
                  <a:ext cx="1229375" cy="2867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=0.3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7D23278-14E1-8068-8AE5-17F099410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3251" y="4501969"/>
                  <a:ext cx="1229375" cy="28674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6C0EDD8-9546-4022-3BF9-0E58A250C5AE}"/>
                    </a:ext>
                  </a:extLst>
                </p:cNvPr>
                <p:cNvSpPr txBox="1"/>
                <p:nvPr/>
              </p:nvSpPr>
              <p:spPr>
                <a:xfrm>
                  <a:off x="3330970" y="5344208"/>
                  <a:ext cx="727442" cy="2912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 ??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6C0EDD8-9546-4022-3BF9-0E58A250C5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0970" y="5344208"/>
                  <a:ext cx="727442" cy="29129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6231C3-4B7F-F4F3-474E-1B5DD4E40AEB}"/>
                  </a:ext>
                </a:extLst>
              </p:cNvPr>
              <p:cNvSpPr txBox="1"/>
              <p:nvPr/>
            </p:nvSpPr>
            <p:spPr>
              <a:xfrm>
                <a:off x="8526261" y="1731615"/>
                <a:ext cx="3029978" cy="539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Ex) If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=10, 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=1.5</m:t>
                        </m:r>
                      </m:e>
                    </m:d>
                  </m:oMath>
                </a14:m>
                <a:r>
                  <a:rPr lang="en-US" sz="1400" dirty="0"/>
                  <a:t>,</a:t>
                </a:r>
              </a:p>
              <a:p>
                <a:r>
                  <a:rPr lang="en-US" sz="1400" dirty="0"/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0.30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≈9.21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6231C3-4B7F-F4F3-474E-1B5DD4E40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261" y="1731615"/>
                <a:ext cx="3029978" cy="539828"/>
              </a:xfrm>
              <a:prstGeom prst="rect">
                <a:avLst/>
              </a:prstGeom>
              <a:blipFill>
                <a:blip r:embed="rId10"/>
                <a:stretch>
                  <a:fillRect l="-833"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052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5D54FA1-7E73-6984-1E8A-F255302A31F0}"/>
              </a:ext>
            </a:extLst>
          </p:cNvPr>
          <p:cNvGrpSpPr/>
          <p:nvPr/>
        </p:nvGrpSpPr>
        <p:grpSpPr>
          <a:xfrm>
            <a:off x="1727200" y="609600"/>
            <a:ext cx="5740402" cy="5638800"/>
            <a:chOff x="1727200" y="38100"/>
            <a:chExt cx="5740402" cy="5638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AD1A735-44B8-D217-42D8-E4179D413F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966" t="6802" r="8474"/>
            <a:stretch/>
          </p:blipFill>
          <p:spPr>
            <a:xfrm>
              <a:off x="4836162" y="3641090"/>
              <a:ext cx="2504441" cy="203581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D49AEF1-6242-8DAF-826E-307BAB38E3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3953"/>
            <a:stretch/>
          </p:blipFill>
          <p:spPr>
            <a:xfrm>
              <a:off x="1727200" y="38100"/>
              <a:ext cx="2997200" cy="18796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3024769-67E1-E434-2CB5-786F465AFF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814"/>
            <a:stretch/>
          </p:blipFill>
          <p:spPr>
            <a:xfrm>
              <a:off x="1838962" y="3611880"/>
              <a:ext cx="2997200" cy="20574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89FFC3-D03F-722A-4A65-BC093D4F93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6627" r="4237" b="14419"/>
            <a:stretch/>
          </p:blipFill>
          <p:spPr>
            <a:xfrm>
              <a:off x="4597400" y="1916430"/>
              <a:ext cx="2870202" cy="172466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24DFFD9-C814-B359-2DCA-2BAF81FB0D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8488" b="12558"/>
            <a:stretch/>
          </p:blipFill>
          <p:spPr>
            <a:xfrm>
              <a:off x="1727200" y="1917700"/>
              <a:ext cx="2997200" cy="172466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7F896D6-5D6B-D571-8D0C-F3CC1BA3D1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6440" r="4746" b="13953"/>
            <a:stretch/>
          </p:blipFill>
          <p:spPr>
            <a:xfrm>
              <a:off x="4724400" y="40640"/>
              <a:ext cx="2661920" cy="1879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512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266</Words>
  <Application>Microsoft Macintosh PowerPoint</Application>
  <PresentationFormat>Widescreen</PresentationFormat>
  <Paragraphs>47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Gearhart, Colton Mr.</dc:creator>
  <cp:lastModifiedBy>Gearhart, Colton Rae</cp:lastModifiedBy>
  <cp:revision>7</cp:revision>
  <dcterms:created xsi:type="dcterms:W3CDTF">2022-11-09T01:27:32Z</dcterms:created>
  <dcterms:modified xsi:type="dcterms:W3CDTF">2023-11-07T23:36:10Z</dcterms:modified>
</cp:coreProperties>
</file>